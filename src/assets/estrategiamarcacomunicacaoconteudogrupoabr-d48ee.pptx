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322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3A3"/>
    <a:srgbClr val="FAE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51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3C8E7-B062-4485-CD88-0770A3E7A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7C008-5787-D64F-C898-CC90342A3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D86287-0C29-1164-CDB1-BEAEA29C6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1B2B3-86CE-10F9-416B-04B7F98601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449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1.jpg"/>
          <p:cNvPicPr>
            <a:picLocks noChangeAspect="1"/>
          </p:cNvPicPr>
          <p:nvPr/>
        </p:nvPicPr>
        <p:blipFill>
          <a:blip r:embed="rId3"/>
          <a:srcRect l="28874" r="28874"/>
          <a:stretch/>
        </p:blipFill>
        <p:spPr>
          <a:xfrm>
            <a:off x="7040880" y="0"/>
            <a:ext cx="5148072" cy="6858000"/>
          </a:xfrm>
          <a:prstGeom prst="rect">
            <a:avLst/>
          </a:prstGeom>
        </p:spPr>
      </p:pic>
      <p:pic>
        <p:nvPicPr>
          <p:cNvPr id="3" name="Image 1" descr="/mnt/data/abr_manual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48640"/>
            <a:ext cx="1828800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7373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ESTRATÉGIA DE MARCA,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COMUNICAÇÃO E CONTEÚDO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94944" y="35204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8DD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calendário editorial ao sistema de crescimento de marca e demanda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94944" y="6172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2026–2027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.jpg"/>
          <p:cNvPicPr>
            <a:picLocks noChangeAspect="1"/>
          </p:cNvPicPr>
          <p:nvPr/>
        </p:nvPicPr>
        <p:blipFill>
          <a:blip r:embed="rId3"/>
          <a:srcRect l="32626" r="32626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 DE PARTIDA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 calendário veio antes da estratégia.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476289"/>
            <a:ext cx="6400800" cy="60462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 não invalida o calendário. Ele mostra o que precisa ser construído antes dele.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2469626"/>
            <a:ext cx="640080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Definir quem somos e como queremos ser percebidos
</a:t>
            </a:r>
            <a:endParaRPr lang="en-US" sz="1400" dirty="0"/>
          </a:p>
          <a:p>
            <a:r>
              <a:rPr lang="en-US" sz="14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Mapear concorrentes e territórios de comunicação
</a:t>
            </a:r>
            <a:endParaRPr lang="en-US" sz="1400" dirty="0"/>
          </a:p>
          <a:p>
            <a:r>
              <a:rPr lang="en-US" sz="14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Separar brand, buyer e audience personas
</a:t>
            </a:r>
            <a:endParaRPr lang="en-US" sz="1400" dirty="0"/>
          </a:p>
          <a:p>
            <a:r>
              <a:rPr lang="en-US" sz="14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Transformar conteúdo em funil, métrica e resultado comercial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 de partida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NOVA ORDEM NARRATIVA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332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 apresentação passa a contar uma história de negócio.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1600199"/>
            <a:ext cx="10241280" cy="8595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Empresa → Identidade → Mercado → Públicos → Diagnóstico → Posicionamento → Conteúdo → Receita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600200" cy="1261872"/>
          </a:xfrm>
          <a:prstGeom prst="rect">
            <a:avLst/>
          </a:prstGeom>
          <a:solidFill>
            <a:srgbClr val="253575"/>
          </a:solidFill>
          <a:ln>
            <a:solidFill>
              <a:srgbClr val="25357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Empresa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somos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13432" y="3364992"/>
            <a:ext cx="384048" cy="0"/>
          </a:xfrm>
          <a:prstGeom prst="line">
            <a:avLst/>
          </a:prstGeom>
          <a:noFill/>
          <a:ln w="25400">
            <a:solidFill>
              <a:srgbClr val="F188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514600" y="2743200"/>
            <a:ext cx="1600200" cy="1261872"/>
          </a:xfrm>
          <a:prstGeom prst="rect">
            <a:avLst/>
          </a:prstGeom>
          <a:solidFill>
            <a:srgbClr val="142758"/>
          </a:solidFill>
          <a:ln>
            <a:solidFill>
              <a:srgbClr val="14275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aparecemos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87952" y="3364992"/>
            <a:ext cx="384048" cy="0"/>
          </a:xfrm>
          <a:prstGeom prst="line">
            <a:avLst/>
          </a:prstGeom>
          <a:noFill/>
          <a:ln w="25400">
            <a:solidFill>
              <a:srgbClr val="F188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389120" y="2743200"/>
            <a:ext cx="1600200" cy="1261872"/>
          </a:xfrm>
          <a:prstGeom prst="rect">
            <a:avLst/>
          </a:prstGeom>
          <a:solidFill>
            <a:srgbClr val="253575"/>
          </a:solidFill>
          <a:ln>
            <a:solidFill>
              <a:srgbClr val="25357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Mercado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competimos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62472" y="3364992"/>
            <a:ext cx="384048" cy="0"/>
          </a:xfrm>
          <a:prstGeom prst="line">
            <a:avLst/>
          </a:prstGeom>
          <a:noFill/>
          <a:ln w="25400">
            <a:solidFill>
              <a:srgbClr val="F188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263640" y="2743200"/>
            <a:ext cx="1600200" cy="1261872"/>
          </a:xfrm>
          <a:prstGeom prst="rect">
            <a:avLst/>
          </a:prstGeom>
          <a:solidFill>
            <a:srgbClr val="142758"/>
          </a:solidFill>
          <a:ln>
            <a:solidFill>
              <a:srgbClr val="14275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Públicos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quem falamos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36992" y="3364992"/>
            <a:ext cx="384048" cy="0"/>
          </a:xfrm>
          <a:prstGeom prst="line">
            <a:avLst/>
          </a:prstGeom>
          <a:noFill/>
          <a:ln w="25400">
            <a:solidFill>
              <a:srgbClr val="F188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138160" y="2743200"/>
            <a:ext cx="1600200" cy="1261872"/>
          </a:xfrm>
          <a:prstGeom prst="rect">
            <a:avLst/>
          </a:prstGeom>
          <a:solidFill>
            <a:srgbClr val="253575"/>
          </a:solidFill>
          <a:ln>
            <a:solidFill>
              <a:srgbClr val="25357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Conteúdo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ativamos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811512" y="3364992"/>
            <a:ext cx="384048" cy="0"/>
          </a:xfrm>
          <a:prstGeom prst="line">
            <a:avLst/>
          </a:prstGeom>
          <a:noFill/>
          <a:ln w="25400">
            <a:solidFill>
              <a:srgbClr val="F188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0012680" y="2743200"/>
            <a:ext cx="1600200" cy="1261872"/>
          </a:xfrm>
          <a:prstGeom prst="rect">
            <a:avLst/>
          </a:prstGeom>
          <a:solidFill>
            <a:srgbClr val="142758"/>
          </a:solidFill>
          <a:ln>
            <a:solidFill>
              <a:srgbClr val="14275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medimos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Narrativa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3.jpg"/>
          <p:cNvPicPr>
            <a:picLocks noChangeAspect="1"/>
          </p:cNvPicPr>
          <p:nvPr/>
        </p:nvPicPr>
        <p:blipFill>
          <a:blip r:embed="rId3"/>
          <a:srcRect l="29625" r="29625"/>
          <a:stretch/>
        </p:blipFill>
        <p:spPr>
          <a:xfrm>
            <a:off x="7223760" y="0"/>
            <a:ext cx="49651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868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01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94360" y="1737360"/>
            <a:ext cx="6217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Fundação estratégica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21792" y="3017520"/>
            <a:ext cx="5212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8DD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falar com o mercado, alinhar a empresa por dentro.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21792" y="4023360"/>
            <a:ext cx="155448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/mnt/data/abr_manual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301752"/>
            <a:ext cx="16002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7.jpg"/>
          <p:cNvPicPr>
            <a:picLocks noChangeAspect="1"/>
          </p:cNvPicPr>
          <p:nvPr/>
        </p:nvPicPr>
        <p:blipFill>
          <a:blip r:embed="rId3"/>
          <a:srcRect t="18143" b="18143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FUNDAÇÃO ESTRATÉGICA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Quem é o Grupo ABR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472184"/>
            <a:ext cx="6400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Desde 2008, conectando aço, indústria, construção e logística.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240280"/>
            <a:ext cx="64008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Grupo ABR fornece e desenvolve soluções em aço para profissionais, pequenos negócios, construtoras, distribuidores, indústrias e operações de maior porte.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do que disponibilizar aço, a marca precisa comunicar o que existe por trás de cada pedido: uma obra que precisa avançar, uma produção que não pode parar, um estoque que precisa girar e um negócio que precisa crescer.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Fundação estratégica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PROPÓSITO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6751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Transformar aço em desenvolvimento.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58368" y="3611880"/>
            <a:ext cx="155448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58368" y="3831336"/>
            <a:ext cx="62179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6DC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Conectar pessoas, empresas e projetos a soluções que ajudam a construir, produzir, crescer e gerar prosperidade.</a:t>
            </a:r>
            <a:endParaRPr lang="en-US" sz="1800" dirty="0"/>
          </a:p>
        </p:txBody>
      </p:sp>
      <p:pic>
        <p:nvPicPr>
          <p:cNvPr id="6" name="Image 0" descr="/mnt/data/abr_optimized/image1.jpg"/>
          <p:cNvPicPr>
            <a:picLocks noChangeAspect="1"/>
          </p:cNvPicPr>
          <p:nvPr/>
        </p:nvPicPr>
        <p:blipFill>
          <a:blip r:embed="rId3"/>
          <a:srcRect l="31876" r="31876"/>
          <a:stretch/>
        </p:blipFill>
        <p:spPr>
          <a:xfrm>
            <a:off x="7772400" y="0"/>
            <a:ext cx="4416552" cy="6858000"/>
          </a:xfrm>
          <a:prstGeom prst="rect">
            <a:avLst/>
          </a:prstGeom>
        </p:spPr>
      </p:pic>
      <p:pic>
        <p:nvPicPr>
          <p:cNvPr id="7" name="Image 1" descr="/mnt/data/abr_manual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301752"/>
            <a:ext cx="16002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1.jpg"/>
          <p:cNvPicPr>
            <a:picLocks noChangeAspect="1"/>
          </p:cNvPicPr>
          <p:nvPr/>
        </p:nvPicPr>
        <p:blipFill>
          <a:blip r:embed="rId3"/>
          <a:srcRect l="32626" r="32626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MISSÃO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Fornecer soluções em aço com precisão, disponibilidade e agilidade.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782526"/>
            <a:ext cx="6400800" cy="5034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missão traduz a operação do Grupo ABR em valor percebido pelo cliente.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574325"/>
            <a:ext cx="6400800" cy="212196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Atendimento especializado para diferentes segmentos
</a:t>
            </a:r>
            <a:endParaRPr lang="en-US" sz="1600" dirty="0"/>
          </a:p>
          <a:p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Disponibilidade e variedade para reduzir fricção na compra
</a:t>
            </a:r>
            <a:endParaRPr lang="en-US" sz="1600" dirty="0"/>
          </a:p>
          <a:p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Capacidade operacional para apoiar obra, indústria e revenda
</a:t>
            </a:r>
            <a:endParaRPr lang="en-US" sz="1600" dirty="0"/>
          </a:p>
          <a:p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Logística como diferencial de confiança e continuidade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Missão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3.jpg"/>
          <p:cNvPicPr>
            <a:picLocks noChangeAspect="1"/>
          </p:cNvPicPr>
          <p:nvPr/>
        </p:nvPicPr>
        <p:blipFill>
          <a:blip r:embed="rId3"/>
          <a:srcRect l="32626" r="32626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VISÃO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Ser referência em soluções em aço no Centro-Sul do Brasil.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460240"/>
            <a:ext cx="6400800" cy="11568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Reconhecimento em relacionamento, capacidade operacional, inteligência aplicada e confiança comercial.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3061854"/>
            <a:ext cx="6400800" cy="265314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Visão é posição de mercado, não apenas volume anual
</a:t>
            </a:r>
            <a:endParaRPr lang="en-US" sz="1600" dirty="0"/>
          </a:p>
          <a:p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Tonelagem é consequência de relevância, retenção e crescimento
</a:t>
            </a:r>
            <a:endParaRPr lang="en-US" sz="1600" dirty="0"/>
          </a:p>
          <a:p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marca precisa ser lembrada antes, durante e depois da cotação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Visão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ESTRATÉGICA 2026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88696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100 mil toneladas não é só volume. É sistema.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1874520"/>
            <a:ext cx="411480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58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100.000 t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713232" y="2696566"/>
            <a:ext cx="2805823" cy="7324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comercial de janeiro a dezembro de 2026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983480" y="1874520"/>
            <a:ext cx="525780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r>
              <a:rPr lang="en-US" sz="18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clientes ativos
</a:t>
            </a:r>
            <a:endParaRPr lang="en-US" sz="1800" dirty="0"/>
          </a:p>
          <a:p>
            <a:r>
              <a:rPr lang="en-US" sz="18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Maior frequência de compra
</a:t>
            </a:r>
            <a:endParaRPr lang="en-US" sz="1800" dirty="0"/>
          </a:p>
          <a:p>
            <a:r>
              <a:rPr lang="en-US" sz="18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share of wallet
</a:t>
            </a:r>
            <a:endParaRPr lang="en-US" sz="1800" dirty="0"/>
          </a:p>
          <a:p>
            <a:r>
              <a:rPr lang="en-US" sz="18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Melhor conversão de cotações
</a:t>
            </a:r>
            <a:endParaRPr lang="en-US" sz="1800" dirty="0"/>
          </a:p>
          <a:p>
            <a:r>
              <a:rPr lang="en-US" sz="18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Reativação de inativos
</a:t>
            </a:r>
            <a:endParaRPr lang="en-US" sz="1800" dirty="0"/>
          </a:p>
          <a:p>
            <a:r>
              <a:rPr lang="en-US" sz="18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Expansão regional com inteligência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estratégica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.jpg"/>
          <p:cNvPicPr>
            <a:picLocks noChangeAspect="1"/>
          </p:cNvPicPr>
          <p:nvPr/>
        </p:nvPicPr>
        <p:blipFill>
          <a:blip r:embed="rId3"/>
          <a:srcRect l="32626" r="32626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DE VALOR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 — Seu Parceiraço.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600200"/>
            <a:ext cx="6400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para atender. Conhecimento para orientar. Agilidade para entregar.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576944"/>
            <a:ext cx="6400800" cy="313805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ParceirAço não é só slogan: é promessa operacional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marca deve vender solução e confiança, não apenas preço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cliente precisa sentir estrutura, autoridade, entrega e proximidade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de valor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VALORES COMO COMPORTAMENTO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241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Valores precisam orientar decisão, conteúdo e atendimento.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3566160" cy="1197864"/>
          </a:xfrm>
          <a:prstGeom prst="rect">
            <a:avLst/>
          </a:prstGeom>
          <a:solidFill>
            <a:srgbClr val="E9EDF8"/>
          </a:solidFill>
          <a:ln>
            <a:solidFill>
              <a:srgbClr val="E9EDF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34840" y="1828800"/>
            <a:ext cx="3566160" cy="1197864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0"/>
            <a:ext cx="3566160" cy="1197864"/>
          </a:xfrm>
          <a:prstGeom prst="rect">
            <a:avLst/>
          </a:prstGeom>
          <a:solidFill>
            <a:srgbClr val="E9EDF8"/>
          </a:solidFill>
          <a:ln>
            <a:solidFill>
              <a:srgbClr val="E9EDF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300983"/>
            <a:ext cx="3566160" cy="1395707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34840" y="3300982"/>
            <a:ext cx="3566160" cy="1395707"/>
          </a:xfrm>
          <a:prstGeom prst="rect">
            <a:avLst/>
          </a:prstGeom>
          <a:solidFill>
            <a:srgbClr val="E9EDF8"/>
          </a:solidFill>
          <a:ln>
            <a:solidFill>
              <a:srgbClr val="E9EDF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0" y="3300982"/>
            <a:ext cx="3566160" cy="1395707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Valores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9C937F7-A130-5D51-C0CE-33F86B416550}"/>
              </a:ext>
            </a:extLst>
          </p:cNvPr>
          <p:cNvSpPr txBox="1"/>
          <p:nvPr/>
        </p:nvSpPr>
        <p:spPr>
          <a:xfrm>
            <a:off x="709354" y="1874520"/>
            <a:ext cx="3253047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Cliente</a:t>
            </a: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 no </a:t>
            </a:r>
            <a:r>
              <a:rPr lang="en-US" sz="1800" b="1" dirty="0" err="1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centro</a:t>
            </a: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
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Entender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antes de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oferecer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Resolver antes de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simplesmente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vender.</a:t>
            </a:r>
            <a:endParaRPr lang="en-US" sz="18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6843964-CE0F-B86B-C066-BF72238EF9E0}"/>
              </a:ext>
            </a:extLst>
          </p:cNvPr>
          <p:cNvSpPr txBox="1"/>
          <p:nvPr/>
        </p:nvSpPr>
        <p:spPr>
          <a:xfrm>
            <a:off x="4627418" y="1937100"/>
            <a:ext cx="3172691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Agilidade</a:t>
            </a: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 </a:t>
            </a:r>
            <a:r>
              <a:rPr lang="en-US" sz="1800" b="1" dirty="0" err="1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responsável</a:t>
            </a: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
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Mover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rápido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simplificar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processos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buscar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melhoria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contínua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596E67B-09F5-E668-17A9-F295C55509D6}"/>
              </a:ext>
            </a:extLst>
          </p:cNvPr>
          <p:cNvSpPr txBox="1"/>
          <p:nvPr/>
        </p:nvSpPr>
        <p:spPr>
          <a:xfrm>
            <a:off x="8340436" y="1937100"/>
            <a:ext cx="336388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Integridade</a:t>
            </a: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 sempre
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Ética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transparência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respeito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as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relações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0CCCB82-2E50-D9B6-A744-F19D27984B8D}"/>
              </a:ext>
            </a:extLst>
          </p:cNvPr>
          <p:cNvSpPr txBox="1"/>
          <p:nvPr/>
        </p:nvSpPr>
        <p:spPr>
          <a:xfrm>
            <a:off x="709354" y="3417232"/>
            <a:ext cx="325304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Colaboração</a:t>
            </a: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
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equipe,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fornecedores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parceiros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crescendo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juntos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0C785AE-CF4C-4FFE-EE5E-FEA8FBFF6502}"/>
              </a:ext>
            </a:extLst>
          </p:cNvPr>
          <p:cNvSpPr txBox="1"/>
          <p:nvPr/>
        </p:nvSpPr>
        <p:spPr>
          <a:xfrm>
            <a:off x="4531128" y="3429000"/>
            <a:ext cx="336526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Sustentabilidade</a:t>
            </a: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
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Decisões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economicamente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responsáveis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sociais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ambientais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B63768D-970D-008D-A1DE-830149F0F2BA}"/>
              </a:ext>
            </a:extLst>
          </p:cNvPr>
          <p:cNvSpPr txBox="1"/>
          <p:nvPr/>
        </p:nvSpPr>
        <p:spPr>
          <a:xfrm>
            <a:off x="8340436" y="3429000"/>
            <a:ext cx="3363884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Gratidão</a:t>
            </a: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
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Reconhecer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pessoas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oportunidades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conquistas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constroem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história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ESSÊNCIA DA MARCA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ESTRUTURA + MOVIMENTO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94944" y="20574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8DD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identidade precisa expressar uma empresa sólida, mas não estática: ela produz, movimenta, entrega e constrói relações.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" y="3200400"/>
            <a:ext cx="2011680" cy="402336"/>
          </a:xfrm>
          <a:prstGeom prst="rect">
            <a:avLst/>
          </a:prstGeom>
          <a:solidFill>
            <a:srgbClr val="142758"/>
          </a:solidFill>
          <a:ln>
            <a:solidFill>
              <a:srgbClr val="142758">
                <a:alpha val="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FORÇA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3200400"/>
            <a:ext cx="2011680" cy="402336"/>
          </a:xfrm>
          <a:prstGeom prst="rect">
            <a:avLst/>
          </a:prstGeom>
          <a:solidFill>
            <a:srgbClr val="142758"/>
          </a:solidFill>
          <a:ln>
            <a:solidFill>
              <a:srgbClr val="142758">
                <a:alpha val="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3840480"/>
            <a:ext cx="2011680" cy="402336"/>
          </a:xfrm>
          <a:prstGeom prst="rect">
            <a:avLst/>
          </a:prstGeom>
          <a:solidFill>
            <a:srgbClr val="F18800"/>
          </a:solidFill>
          <a:ln>
            <a:solidFill>
              <a:srgbClr val="F18800">
                <a:alpha val="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AGILIDADE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3840480"/>
            <a:ext cx="2011680" cy="402336"/>
          </a:xfrm>
          <a:prstGeom prst="rect">
            <a:avLst/>
          </a:prstGeom>
          <a:solidFill>
            <a:srgbClr val="F18800"/>
          </a:solidFill>
          <a:ln>
            <a:solidFill>
              <a:srgbClr val="F18800">
                <a:alpha val="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PARCERIA</a:t>
            </a:r>
            <a:endParaRPr lang="en-US" sz="1500" dirty="0"/>
          </a:p>
        </p:txBody>
      </p:sp>
      <p:pic>
        <p:nvPicPr>
          <p:cNvPr id="9" name="Image 0" descr="/mnt/data/abr_optimized/image3.jpg"/>
          <p:cNvPicPr>
            <a:picLocks noChangeAspect="1"/>
          </p:cNvPicPr>
          <p:nvPr/>
        </p:nvPicPr>
        <p:blipFill>
          <a:blip r:embed="rId3"/>
          <a:srcRect l="31126" r="31126"/>
          <a:stretch/>
        </p:blipFill>
        <p:spPr>
          <a:xfrm>
            <a:off x="7589520" y="0"/>
            <a:ext cx="4599432" cy="6858000"/>
          </a:xfrm>
          <a:prstGeom prst="rect">
            <a:avLst/>
          </a:prstGeom>
        </p:spPr>
      </p:pic>
      <p:pic>
        <p:nvPicPr>
          <p:cNvPr id="10" name="Image 1" descr="/mnt/data/abr_manual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301752"/>
            <a:ext cx="16002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1.jpg"/>
          <p:cNvPicPr>
            <a:picLocks noChangeAspect="1"/>
          </p:cNvPicPr>
          <p:nvPr/>
        </p:nvPicPr>
        <p:blipFill>
          <a:blip r:embed="rId3"/>
          <a:srcRect l="32626" r="32626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PERSONA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 parceiro especialista.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600200"/>
            <a:ext cx="64008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ABR não precisa parecer um catálogo. Precisa parecer alguém que entende o negócio por trás do aço.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549236"/>
            <a:ext cx="4541520" cy="3165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Conhece aço, obra, logística, aplicação e mercado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Explica com clareza, sem complicar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próximo sem perder robustez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Ajuda o cliente a decidir melhor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persona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ARQUÉTIPO DE MARCA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241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Mentor + Construtor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1600200"/>
            <a:ext cx="10058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cliente é o herói. A ABR é quem entrega estrutura, conhecimento e caminho.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4754880" cy="1371600"/>
          </a:xfrm>
          <a:prstGeom prst="rect">
            <a:avLst/>
          </a:prstGeom>
          <a:solidFill>
            <a:srgbClr val="E9EDF8"/>
          </a:solidFill>
          <a:ln>
            <a:solidFill>
              <a:srgbClr val="E9EDF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2468880"/>
            <a:ext cx="4754880" cy="1371600"/>
          </a:xfrm>
          <a:prstGeom prst="rect">
            <a:avLst/>
          </a:prstGeom>
          <a:solidFill>
            <a:srgbClr val="FFF2DF"/>
          </a:solidFill>
          <a:ln>
            <a:solidFill>
              <a:srgbClr val="FFF2D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4709160"/>
            <a:ext cx="101498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comunicação deve mostrar o cliente construindo, produzindo, vendendo e crescendo com mais segurança.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persona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60D5354-FCF3-94B9-71B2-7B706B9252C1}"/>
              </a:ext>
            </a:extLst>
          </p:cNvPr>
          <p:cNvSpPr txBox="1"/>
          <p:nvPr/>
        </p:nvSpPr>
        <p:spPr>
          <a:xfrm>
            <a:off x="960120" y="2628395"/>
            <a:ext cx="420762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MENTOR
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Orienta,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traduz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reduz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risco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decisão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5E46F14-5530-58E6-3F91-842CA96C196F}"/>
              </a:ext>
            </a:extLst>
          </p:cNvPr>
          <p:cNvSpPr txBox="1"/>
          <p:nvPr/>
        </p:nvSpPr>
        <p:spPr>
          <a:xfrm>
            <a:off x="6664036" y="2761231"/>
            <a:ext cx="435448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CONSTRUTOR
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movimenta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participa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crescimento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.jpg"/>
          <p:cNvPicPr>
            <a:picLocks noChangeAspect="1"/>
          </p:cNvPicPr>
          <p:nvPr/>
        </p:nvPicPr>
        <p:blipFill>
          <a:blip r:embed="rId3"/>
          <a:srcRect l="29625" r="29625"/>
          <a:stretch/>
        </p:blipFill>
        <p:spPr>
          <a:xfrm>
            <a:off x="7223760" y="0"/>
            <a:ext cx="49651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868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02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94360" y="1737360"/>
            <a:ext cx="6217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Identidade visual e sistema de marca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21792" y="3017520"/>
            <a:ext cx="5212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8DD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a estratégia vira aparência, leitura e reconhecimento.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21792" y="4023360"/>
            <a:ext cx="155448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/mnt/data/abr_manual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301752"/>
            <a:ext cx="16002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manual_extract/ppt/media/image4.png"/>
          <p:cNvPicPr>
            <a:picLocks noChangeAspect="1"/>
          </p:cNvPicPr>
          <p:nvPr/>
        </p:nvPicPr>
        <p:blipFill>
          <a:blip r:embed="rId3"/>
          <a:srcRect l="34408" r="34408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IDENTIDADE VISUAL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76626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 marca deve ser tratada como sistema.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600200"/>
            <a:ext cx="6400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→ ABR → SEU PARCEIRAÇO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240280"/>
            <a:ext cx="640080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Assinatura completa para campanhas, eventos e apresentações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Assinatura sem slogan quando a leitura exigir redução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Monograma ABR para avatares, EPIs, uniformes e espaços pequenos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Prioridade: reconhecimento antes de excesso de informação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Identidade visual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TIPOGRÁFICO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Tipografia também comunica posicionamento.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3474720" cy="1371600"/>
          </a:xfrm>
          <a:prstGeom prst="rect">
            <a:avLst/>
          </a:prstGeom>
          <a:solidFill>
            <a:srgbClr val="253575"/>
          </a:solidFill>
          <a:ln>
            <a:solidFill>
              <a:srgbClr val="25357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34840" y="1920240"/>
            <a:ext cx="3474720" cy="1371600"/>
          </a:xfrm>
          <a:prstGeom prst="rect">
            <a:avLst/>
          </a:prstGeom>
          <a:solidFill>
            <a:srgbClr val="E9EDF8"/>
          </a:solidFill>
          <a:ln>
            <a:solidFill>
              <a:srgbClr val="E9EDF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38160" y="1920240"/>
            <a:ext cx="3474720" cy="1371600"/>
          </a:xfrm>
          <a:prstGeom prst="rect">
            <a:avLst/>
          </a:prstGeom>
          <a:solidFill>
            <a:schemeClr val="accent2"/>
          </a:solidFill>
          <a:ln>
            <a:solidFill>
              <a:srgbClr val="EEF2F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663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Regra prática: Good Times preserva a assinatura; Nexa dá força; Montserrat garante leitura.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Tipografia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63E7B20-EB17-48F7-54B1-C890E4136722}"/>
              </a:ext>
            </a:extLst>
          </p:cNvPr>
          <p:cNvSpPr txBox="1"/>
          <p:nvPr/>
        </p:nvSpPr>
        <p:spPr>
          <a:xfrm>
            <a:off x="822960" y="2023264"/>
            <a:ext cx="3194858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GOOD TIMES</a:t>
            </a:r>
            <a:r>
              <a:rPr lang="en-US" sz="1800" b="1" dirty="0">
                <a:solidFill>
                  <a:schemeClr val="bg1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
</a:t>
            </a:r>
            <a:r>
              <a:rPr lang="en-US" sz="13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Tipografia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construtiva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3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identidade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do </a:t>
            </a:r>
            <a:r>
              <a:rPr lang="en-US" sz="13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logotipo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Uso </a:t>
            </a:r>
            <a:r>
              <a:rPr lang="en-US" sz="13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vinculado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à </a:t>
            </a:r>
            <a:r>
              <a:rPr lang="en-US" sz="13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assinatura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3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marca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9B554C7-A66E-31F9-4F32-6B0211E6BDC2}"/>
              </a:ext>
            </a:extLst>
          </p:cNvPr>
          <p:cNvSpPr txBox="1"/>
          <p:nvPr/>
        </p:nvSpPr>
        <p:spPr>
          <a:xfrm>
            <a:off x="4567844" y="2054042"/>
            <a:ext cx="3117272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NEXA
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protagonista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chamadas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números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textos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editorial.</a:t>
            </a:r>
            <a:endParaRPr lang="en-US" sz="18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AA199C7-3557-34E9-078D-FBA8EE508A04}"/>
              </a:ext>
            </a:extLst>
          </p:cNvPr>
          <p:cNvSpPr txBox="1"/>
          <p:nvPr/>
        </p:nvSpPr>
        <p:spPr>
          <a:xfrm>
            <a:off x="8312727" y="2139240"/>
            <a:ext cx="3147754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MONTSERRAT
</a:t>
            </a:r>
            <a:r>
              <a:rPr lang="en-US" sz="13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Apoio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13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subtítulos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textos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longos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dados, </a:t>
            </a:r>
            <a:r>
              <a:rPr lang="en-US" sz="13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tabelas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especificações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técnicas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PALETA CROMÁTICA OFICIAL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 azul estrutura. O laranja movimenta. O branco organiza.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  <p:sp>
        <p:nvSpPr>
          <p:cNvPr id="11" name="Shape 17">
            <a:extLst>
              <a:ext uri="{FF2B5EF4-FFF2-40B4-BE49-F238E27FC236}">
                <a16:creationId xmlns:a16="http://schemas.microsoft.com/office/drawing/2014/main" id="{F07C08C9-0285-5C22-88FE-966D41261CD9}"/>
              </a:ext>
            </a:extLst>
          </p:cNvPr>
          <p:cNvSpPr/>
          <p:nvPr/>
        </p:nvSpPr>
        <p:spPr>
          <a:xfrm>
            <a:off x="5631582" y="2020824"/>
            <a:ext cx="235305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2A9CABEE-AD83-31BC-BE96-526410337F1B}"/>
              </a:ext>
            </a:extLst>
          </p:cNvPr>
          <p:cNvSpPr/>
          <p:nvPr/>
        </p:nvSpPr>
        <p:spPr>
          <a:xfrm>
            <a:off x="5631582" y="2020824"/>
            <a:ext cx="2331720" cy="1051560"/>
          </a:xfrm>
          <a:prstGeom prst="rect">
            <a:avLst/>
          </a:prstGeom>
          <a:solidFill>
            <a:srgbClr val="142758"/>
          </a:solidFill>
          <a:ln w="12700">
            <a:solidFill>
              <a:schemeClr val="bg1">
                <a:alpha val="15000"/>
              </a:schemeClr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388BD7D7-54FF-923A-A327-A61F560DCCA8}"/>
              </a:ext>
            </a:extLst>
          </p:cNvPr>
          <p:cNvSpPr/>
          <p:nvPr/>
        </p:nvSpPr>
        <p:spPr>
          <a:xfrm>
            <a:off x="594360" y="2020824"/>
            <a:ext cx="23317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CDABB256-0363-459B-66E2-130126FB28C7}"/>
              </a:ext>
            </a:extLst>
          </p:cNvPr>
          <p:cNvSpPr/>
          <p:nvPr/>
        </p:nvSpPr>
        <p:spPr>
          <a:xfrm>
            <a:off x="594360" y="2020824"/>
            <a:ext cx="2331720" cy="1051560"/>
          </a:xfrm>
          <a:prstGeom prst="rect">
            <a:avLst/>
          </a:prstGeom>
          <a:solidFill>
            <a:srgbClr val="253575"/>
          </a:solidFill>
          <a:ln w="12700">
            <a:solidFill>
              <a:srgbClr val="253575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814D8211-3543-CF27-E7F3-78436605ED6B}"/>
              </a:ext>
            </a:extLst>
          </p:cNvPr>
          <p:cNvSpPr/>
          <p:nvPr/>
        </p:nvSpPr>
        <p:spPr>
          <a:xfrm>
            <a:off x="832104" y="32735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AZUL ABR</a:t>
            </a:r>
            <a:endParaRPr lang="en-US" sz="160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4FCE0D50-F5FF-D63B-4BF6-F2C202DFD0E9}"/>
              </a:ext>
            </a:extLst>
          </p:cNvPr>
          <p:cNvSpPr/>
          <p:nvPr/>
        </p:nvSpPr>
        <p:spPr>
          <a:xfrm>
            <a:off x="832104" y="36758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#253575</a:t>
            </a:r>
            <a:endParaRPr lang="en-US" sz="17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B212C208-DE8F-6A37-ED7F-CC00EEE21FDA}"/>
              </a:ext>
            </a:extLst>
          </p:cNvPr>
          <p:cNvSpPr/>
          <p:nvPr/>
        </p:nvSpPr>
        <p:spPr>
          <a:xfrm>
            <a:off x="832104" y="4114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RGB  37 / 53 / 117</a:t>
            </a:r>
            <a:endParaRPr lang="en-US" sz="1000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4F5AAADE-C235-65C7-30DD-F29A97F790A4}"/>
              </a:ext>
            </a:extLst>
          </p:cNvPr>
          <p:cNvSpPr/>
          <p:nvPr/>
        </p:nvSpPr>
        <p:spPr>
          <a:xfrm>
            <a:off x="832104" y="448056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Solidez · confiança · estrutura · indústria · segurança · tecnologia</a:t>
            </a:r>
            <a:endParaRPr lang="en-US" sz="870" dirty="0"/>
          </a:p>
        </p:txBody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6B523D1C-CC63-D718-D3C0-6FBAD3391BC6}"/>
              </a:ext>
            </a:extLst>
          </p:cNvPr>
          <p:cNvSpPr/>
          <p:nvPr/>
        </p:nvSpPr>
        <p:spPr>
          <a:xfrm>
            <a:off x="3103640" y="2020824"/>
            <a:ext cx="235305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C3A8F2F9-EACB-7A14-EAC1-6A8A5FC6616F}"/>
              </a:ext>
            </a:extLst>
          </p:cNvPr>
          <p:cNvSpPr/>
          <p:nvPr/>
        </p:nvSpPr>
        <p:spPr>
          <a:xfrm>
            <a:off x="3103640" y="2020824"/>
            <a:ext cx="2331720" cy="105156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A6C03070-997B-0D1A-FC87-64D73E7B35E2}"/>
              </a:ext>
            </a:extLst>
          </p:cNvPr>
          <p:cNvSpPr/>
          <p:nvPr/>
        </p:nvSpPr>
        <p:spPr>
          <a:xfrm>
            <a:off x="3378708" y="32735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LARANJA ABR</a:t>
            </a:r>
            <a:endParaRPr lang="en-US" sz="1600" dirty="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933AD150-72DB-7133-660F-518F52A23FD5}"/>
              </a:ext>
            </a:extLst>
          </p:cNvPr>
          <p:cNvSpPr/>
          <p:nvPr/>
        </p:nvSpPr>
        <p:spPr>
          <a:xfrm>
            <a:off x="3378708" y="36758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#F18800</a:t>
            </a:r>
            <a:endParaRPr lang="en-US" sz="1700" dirty="0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3CC07577-6E95-C69E-03E0-1DD9FFB45F96}"/>
              </a:ext>
            </a:extLst>
          </p:cNvPr>
          <p:cNvSpPr/>
          <p:nvPr/>
        </p:nvSpPr>
        <p:spPr>
          <a:xfrm>
            <a:off x="3378708" y="4114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RGB  241 / 136 / 0</a:t>
            </a:r>
            <a:endParaRPr lang="en-US" sz="1000" dirty="0"/>
          </a:p>
        </p:txBody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335D015C-C316-9508-304C-8FBBF51842DF}"/>
              </a:ext>
            </a:extLst>
          </p:cNvPr>
          <p:cNvSpPr/>
          <p:nvPr/>
        </p:nvSpPr>
        <p:spPr>
          <a:xfrm>
            <a:off x="3341384" y="448056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Energia · ação · agilidade · logística · proximidade · oportunidade</a:t>
            </a:r>
            <a:endParaRPr lang="en-US" sz="870" dirty="0"/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AC3838F0-3D36-0935-9453-DA695B6BCB77}"/>
              </a:ext>
            </a:extLst>
          </p:cNvPr>
          <p:cNvSpPr/>
          <p:nvPr/>
        </p:nvSpPr>
        <p:spPr>
          <a:xfrm>
            <a:off x="5892186" y="32735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AZUL PETRÓLEO</a:t>
            </a:r>
            <a:endParaRPr lang="en-US" sz="1600" dirty="0"/>
          </a:p>
        </p:txBody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0CB73190-7C87-78F0-B479-207776D41A16}"/>
              </a:ext>
            </a:extLst>
          </p:cNvPr>
          <p:cNvSpPr/>
          <p:nvPr/>
        </p:nvSpPr>
        <p:spPr>
          <a:xfrm>
            <a:off x="5892186" y="36758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#142758</a:t>
            </a:r>
            <a:endParaRPr lang="en-US" sz="1700" dirty="0"/>
          </a:p>
        </p:txBody>
      </p:sp>
      <p:sp>
        <p:nvSpPr>
          <p:cNvPr id="45" name="Text 27">
            <a:extLst>
              <a:ext uri="{FF2B5EF4-FFF2-40B4-BE49-F238E27FC236}">
                <a16:creationId xmlns:a16="http://schemas.microsoft.com/office/drawing/2014/main" id="{CBACDA47-46B8-5D6E-B709-A05A3B0829E1}"/>
              </a:ext>
            </a:extLst>
          </p:cNvPr>
          <p:cNvSpPr/>
          <p:nvPr/>
        </p:nvSpPr>
        <p:spPr>
          <a:xfrm>
            <a:off x="5892186" y="4114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RGB  255 / 255 / 255</a:t>
            </a:r>
            <a:endParaRPr lang="en-US" sz="1000" dirty="0"/>
          </a:p>
        </p:txBody>
      </p:sp>
      <p:sp>
        <p:nvSpPr>
          <p:cNvPr id="47" name="Text 28">
            <a:extLst>
              <a:ext uri="{FF2B5EF4-FFF2-40B4-BE49-F238E27FC236}">
                <a16:creationId xmlns:a16="http://schemas.microsoft.com/office/drawing/2014/main" id="{6D9451DD-386D-E681-98CC-A8F38B2E282D}"/>
              </a:ext>
            </a:extLst>
          </p:cNvPr>
          <p:cNvSpPr/>
          <p:nvPr/>
        </p:nvSpPr>
        <p:spPr>
          <a:xfrm>
            <a:off x="5892186" y="448056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Contraste · respiro · áreas limpas · versões negativas</a:t>
            </a:r>
            <a:endParaRPr lang="en-US" sz="870" dirty="0"/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39F1CC5F-89C8-71D9-375A-1CFE78328B6F}"/>
              </a:ext>
            </a:extLst>
          </p:cNvPr>
          <p:cNvSpPr/>
          <p:nvPr/>
        </p:nvSpPr>
        <p:spPr>
          <a:xfrm>
            <a:off x="594360" y="5609163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 azul domina. O laranja conduz. O branco organiza.</a:t>
            </a:r>
            <a:endParaRPr lang="en-US" sz="1500" dirty="0"/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0E6AE1CF-2365-E8A3-85FB-839937FBE937}"/>
              </a:ext>
            </a:extLst>
          </p:cNvPr>
          <p:cNvSpPr/>
          <p:nvPr/>
        </p:nvSpPr>
        <p:spPr>
          <a:xfrm>
            <a:off x="8137040" y="2020824"/>
            <a:ext cx="235305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18">
            <a:extLst>
              <a:ext uri="{FF2B5EF4-FFF2-40B4-BE49-F238E27FC236}">
                <a16:creationId xmlns:a16="http://schemas.microsoft.com/office/drawing/2014/main" id="{0F5469BF-4500-10B3-393A-828610749542}"/>
              </a:ext>
            </a:extLst>
          </p:cNvPr>
          <p:cNvSpPr/>
          <p:nvPr/>
        </p:nvSpPr>
        <p:spPr>
          <a:xfrm>
            <a:off x="8137040" y="2020824"/>
            <a:ext cx="2331720" cy="1051560"/>
          </a:xfrm>
          <a:prstGeom prst="rect">
            <a:avLst/>
          </a:prstGeom>
          <a:solidFill>
            <a:srgbClr val="FFCF8F"/>
          </a:solidFill>
          <a:ln w="12700">
            <a:solidFill>
              <a:schemeClr val="bg1">
                <a:alpha val="15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28">
            <a:extLst>
              <a:ext uri="{FF2B5EF4-FFF2-40B4-BE49-F238E27FC236}">
                <a16:creationId xmlns:a16="http://schemas.microsoft.com/office/drawing/2014/main" id="{3323CBD1-5068-DCC1-55A2-EBBA5D1AB7E0}"/>
              </a:ext>
            </a:extLst>
          </p:cNvPr>
          <p:cNvSpPr/>
          <p:nvPr/>
        </p:nvSpPr>
        <p:spPr>
          <a:xfrm>
            <a:off x="8397644" y="448056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Contraste · respiro · áreas limpas · versões negativas</a:t>
            </a:r>
            <a:endParaRPr lang="en-US" sz="8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PROPORÇÃO CROMÁTICA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6070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 comunicação não pode parecer promocional por excesso de laranja.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2057400"/>
            <a:ext cx="4114800" cy="1463040"/>
          </a:xfrm>
          <a:prstGeom prst="rect">
            <a:avLst/>
          </a:prstGeom>
          <a:solidFill>
            <a:srgbClr val="253575"/>
          </a:solidFill>
          <a:ln>
            <a:solidFill>
              <a:srgbClr val="25357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60–80%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AZUL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120640" y="2057400"/>
            <a:ext cx="1920240" cy="1463040"/>
          </a:xfrm>
          <a:prstGeom prst="rect">
            <a:avLst/>
          </a:prstGeom>
          <a:solidFill>
            <a:srgbClr val="F18800"/>
          </a:solidFill>
          <a:ln>
            <a:solidFill>
              <a:srgbClr val="F188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10–20%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LARANJA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315200" y="2057400"/>
            <a:ext cx="3840480" cy="1463040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RESTANTE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BRANCO/NEUTRO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05840" y="4709160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Quanto mais institucional, maior domínio do azul. Quanto mais ação/comercial, maior presença controlada do laranja.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8.jpg"/>
          <p:cNvPicPr>
            <a:picLocks noChangeAspect="1"/>
          </p:cNvPicPr>
          <p:nvPr/>
        </p:nvPicPr>
        <p:blipFill>
          <a:blip r:embed="rId3"/>
          <a:srcRect t="13848" b="13848"/>
          <a:stretch/>
        </p:blipFill>
        <p:spPr>
          <a:xfrm>
            <a:off x="8458200" y="0"/>
            <a:ext cx="3730752" cy="6858000"/>
          </a:xfrm>
          <a:prstGeom prst="rect">
            <a:avLst/>
          </a:prstGeom>
        </p:spPr>
      </p:pic>
      <p:sp>
        <p:nvSpPr>
          <p:cNvPr id="49" name="Retângulo 48">
            <a:extLst>
              <a:ext uri="{FF2B5EF4-FFF2-40B4-BE49-F238E27FC236}">
                <a16:creationId xmlns:a16="http://schemas.microsoft.com/office/drawing/2014/main" id="{68D417CC-D6FC-E678-D3FB-B4C6AEFF93A4}"/>
              </a:ext>
            </a:extLst>
          </p:cNvPr>
          <p:cNvSpPr/>
          <p:nvPr/>
        </p:nvSpPr>
        <p:spPr>
          <a:xfrm>
            <a:off x="8458201" y="0"/>
            <a:ext cx="3733800" cy="6858000"/>
          </a:xfrm>
          <a:prstGeom prst="rect">
            <a:avLst/>
          </a:prstGeom>
          <a:solidFill>
            <a:schemeClr val="accent1">
              <a:lumMod val="75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</a:rPr>
              <a:t>MONOGRAMA ABR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Cores em uso</a:t>
            </a:r>
            <a:endParaRPr lang="en-US" sz="88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F4406939-363F-5E95-A9AE-30A86B45E2D4}"/>
              </a:ext>
            </a:extLst>
          </p:cNvPr>
          <p:cNvSpPr/>
          <p:nvPr/>
        </p:nvSpPr>
        <p:spPr>
          <a:xfrm>
            <a:off x="594360" y="685800"/>
            <a:ext cx="6097385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ABR é o principal elemento de reconhecimento visual da marca.</a:t>
            </a:r>
            <a:endParaRPr lang="en-US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D9714719-E3E4-F69E-F6F5-882D80ED3BC4}"/>
              </a:ext>
            </a:extLst>
          </p:cNvPr>
          <p:cNvSpPr/>
          <p:nvPr/>
        </p:nvSpPr>
        <p:spPr>
          <a:xfrm>
            <a:off x="594360" y="1655064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Construção</a:t>
            </a:r>
            <a:endParaRPr lang="en-US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819C8338-0673-E96A-2460-C7AFD776CE88}"/>
              </a:ext>
            </a:extLst>
          </p:cNvPr>
          <p:cNvSpPr/>
          <p:nvPr/>
        </p:nvSpPr>
        <p:spPr>
          <a:xfrm>
            <a:off x="612648" y="187452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Letras robustas, geométricas e integradas.</a:t>
            </a:r>
            <a:endParaRPr lang="en-US" sz="1500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1C0CD108-F93F-8597-7C37-C6B08BD5B213}"/>
              </a:ext>
            </a:extLst>
          </p:cNvPr>
          <p:cNvSpPr/>
          <p:nvPr/>
        </p:nvSpPr>
        <p:spPr>
          <a:xfrm>
            <a:off x="594360" y="2496312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Potencial de uso</a:t>
            </a:r>
            <a:endParaRPr lang="en-US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0BF71FAC-371B-9BC1-428F-CC6DB57CADD3}"/>
              </a:ext>
            </a:extLst>
          </p:cNvPr>
          <p:cNvSpPr/>
          <p:nvPr/>
        </p:nvSpPr>
        <p:spPr>
          <a:xfrm>
            <a:off x="612648" y="271576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 funcionar independentemente da assinatura completa.</a:t>
            </a:r>
            <a:endParaRPr lang="en-US" sz="1500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15A50D43-236C-1094-528B-A0C15CBDE5E1}"/>
              </a:ext>
            </a:extLst>
          </p:cNvPr>
          <p:cNvSpPr/>
          <p:nvPr/>
        </p:nvSpPr>
        <p:spPr>
          <a:xfrm>
            <a:off x="594360" y="3337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Prioridade</a:t>
            </a:r>
            <a:endParaRPr lang="en-US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4730A360-84CB-777F-049B-11A27FDBA72B}"/>
              </a:ext>
            </a:extLst>
          </p:cNvPr>
          <p:cNvSpPr/>
          <p:nvPr/>
        </p:nvSpPr>
        <p:spPr>
          <a:xfrm>
            <a:off x="612648" y="3557016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ABR  ·  2. Grupo ABR  ·  3. Grupo ABR + assinatura.</a:t>
            </a:r>
            <a:endParaRPr lang="en-US" sz="1500" dirty="0"/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0F7F7BC6-9C05-1991-77AC-806D6F94FE5D}"/>
              </a:ext>
            </a:extLst>
          </p:cNvPr>
          <p:cNvSpPr/>
          <p:nvPr/>
        </p:nvSpPr>
        <p:spPr>
          <a:xfrm>
            <a:off x="594360" y="417880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Redução</a:t>
            </a:r>
            <a:endParaRPr lang="en-US" dirty="0"/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E878CE54-F79C-B745-734E-1A561DFC3B3A}"/>
              </a:ext>
            </a:extLst>
          </p:cNvPr>
          <p:cNvSpPr/>
          <p:nvPr/>
        </p:nvSpPr>
        <p:spPr>
          <a:xfrm>
            <a:off x="612648" y="439826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Quanto menor o espaço, mais simplificada deve ser a aplicação.</a:t>
            </a:r>
            <a:endParaRPr lang="en-US" sz="1500" dirty="0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B7DDFA4E-6A77-5D2B-45C7-AE6B7630C599}"/>
              </a:ext>
            </a:extLst>
          </p:cNvPr>
          <p:cNvSpPr/>
          <p:nvPr/>
        </p:nvSpPr>
        <p:spPr>
          <a:xfrm>
            <a:off x="612649" y="4946904"/>
            <a:ext cx="6222006" cy="1207007"/>
          </a:xfrm>
          <a:prstGeom prst="rect">
            <a:avLst/>
          </a:prstGeom>
          <a:solidFill>
            <a:srgbClr val="2535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E5226E94-4745-4A84-F5BE-5711DEFAF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0605" y="5031001"/>
            <a:ext cx="1650793" cy="833906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BB09EFD1-8BAA-7D4D-5B6B-CFDD9BE1DD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2893" y="5031001"/>
            <a:ext cx="1803368" cy="910979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E1979ABC-11A3-64A2-5C90-1FD35D6FDF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5031001"/>
            <a:ext cx="1707885" cy="862746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A6F31E40-A073-AD47-CC9C-E35970867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7026" y="5239512"/>
            <a:ext cx="1650793" cy="833906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59A8C9EA-A347-954A-BCC5-D91D7E15E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0738" y="2982655"/>
            <a:ext cx="1803368" cy="910979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F101ADFD-D2F5-4C00-E719-0971595BA0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8480" y="774030"/>
            <a:ext cx="1707885" cy="86274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8D4A1C-6F64-65B3-100D-9000D625A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8.jpg">
            <a:extLst>
              <a:ext uri="{FF2B5EF4-FFF2-40B4-BE49-F238E27FC236}">
                <a16:creationId xmlns:a16="http://schemas.microsoft.com/office/drawing/2014/main" id="{9E4B5403-9800-C0BD-8444-BEFA455FC2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48" b="13848"/>
          <a:stretch/>
        </p:blipFill>
        <p:spPr>
          <a:xfrm>
            <a:off x="8458200" y="0"/>
            <a:ext cx="3730752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4D053BD-A57A-B78E-0BA7-61030734B8C1}"/>
              </a:ext>
            </a:extLst>
          </p:cNvPr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CORES EM USO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9087332-E62E-C2C4-3153-127F2BB95F0E}"/>
              </a:ext>
            </a:extLst>
          </p:cNvPr>
          <p:cNvSpPr/>
          <p:nvPr/>
        </p:nvSpPr>
        <p:spPr>
          <a:xfrm>
            <a:off x="566928" y="822960"/>
            <a:ext cx="74980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Cor não é decoração. É direção estratégica.</a:t>
            </a:r>
            <a:endParaRPr lang="en-US" sz="3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73CEA30-AE4D-FC88-E435-0E22BF439269}"/>
              </a:ext>
            </a:extLst>
          </p:cNvPr>
          <p:cNvSpPr/>
          <p:nvPr/>
        </p:nvSpPr>
        <p:spPr>
          <a:xfrm>
            <a:off x="640080" y="18288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Azul = estrutura</a:t>
            </a:r>
            <a:endParaRPr lang="en-US" sz="20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72A764B-FFF5-BFB7-1375-58170FD7FA43}"/>
              </a:ext>
            </a:extLst>
          </p:cNvPr>
          <p:cNvSpPr/>
          <p:nvPr/>
        </p:nvSpPr>
        <p:spPr>
          <a:xfrm>
            <a:off x="640080" y="2249424"/>
            <a:ext cx="91440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132EABA-D0C7-B3F8-BEED-484AECC2588C}"/>
              </a:ext>
            </a:extLst>
          </p:cNvPr>
          <p:cNvSpPr/>
          <p:nvPr/>
        </p:nvSpPr>
        <p:spPr>
          <a:xfrm>
            <a:off x="640080" y="2542032"/>
            <a:ext cx="347472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empresa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aço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confiança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engenharia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segurança</a:t>
            </a:r>
            <a:endParaRPr lang="en-US" sz="16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EC32D37-97B9-E598-F333-15D71CF3B35A}"/>
              </a:ext>
            </a:extLst>
          </p:cNvPr>
          <p:cNvSpPr/>
          <p:nvPr/>
        </p:nvSpPr>
        <p:spPr>
          <a:xfrm>
            <a:off x="4434840" y="18288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Laranja = movimento</a:t>
            </a:r>
            <a:endParaRPr lang="en-US" sz="20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A16D491-3493-1289-D8E3-11549AB7E3EF}"/>
              </a:ext>
            </a:extLst>
          </p:cNvPr>
          <p:cNvSpPr/>
          <p:nvPr/>
        </p:nvSpPr>
        <p:spPr>
          <a:xfrm>
            <a:off x="4434840" y="2249424"/>
            <a:ext cx="91440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CDEAD81-CBDD-7D8C-52D2-F75F667E7B3C}"/>
              </a:ext>
            </a:extLst>
          </p:cNvPr>
          <p:cNvSpPr/>
          <p:nvPr/>
        </p:nvSpPr>
        <p:spPr>
          <a:xfrm>
            <a:off x="4434840" y="2542032"/>
            <a:ext cx="356616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produção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logística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atendimento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oportunidade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condução do olhar</a:t>
            </a:r>
            <a:endParaRPr lang="en-US" sz="16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2C19CFA-0B6D-649A-40D0-6F3CB49C41D5}"/>
              </a:ext>
            </a:extLst>
          </p:cNvPr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Cores em uso</a:t>
            </a:r>
            <a:endParaRPr lang="en-US" sz="88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03F4CDD-955D-2981-DD12-BAC83629E26A}"/>
              </a:ext>
            </a:extLst>
          </p:cNvPr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  <p:extLst>
      <p:ext uri="{BB962C8B-B14F-4D97-AF65-F5344CB8AC3E}">
        <p14:creationId xmlns:p14="http://schemas.microsoft.com/office/powerpoint/2010/main" val="1154392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3.jpg"/>
          <p:cNvPicPr>
            <a:picLocks noChangeAspect="1"/>
          </p:cNvPicPr>
          <p:nvPr/>
        </p:nvPicPr>
        <p:blipFill>
          <a:blip r:embed="rId3"/>
          <a:srcRect l="32626" r="32626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GRAFISMO PROPRIETÁRIO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 curva/faixa laranja é um ativo de reconhecimento.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600200"/>
            <a:ext cx="6400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Movimento, continuidade, direção e logística.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240280"/>
            <a:ext cx="640080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Usar como separador, moldura, transição, barra ou chamada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usar apenas para “enfeitar” a peça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o tempo, a curva ajuda a reconhecer a ABR antes mesmo da logo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Grafismo proprietário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1.jpg"/>
          <p:cNvPicPr>
            <a:picLocks noChangeAspect="1"/>
          </p:cNvPicPr>
          <p:nvPr/>
        </p:nvPicPr>
        <p:blipFill>
          <a:blip r:embed="rId3"/>
          <a:srcRect l="34690" r="34690"/>
          <a:stretch/>
        </p:blipFill>
        <p:spPr>
          <a:xfrm>
            <a:off x="8458200" y="0"/>
            <a:ext cx="37307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DE FORMAS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74980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Geometria estrutura. Curva movimenta.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Retas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2249424"/>
            <a:ext cx="91440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40080" y="2542032"/>
            <a:ext cx="347472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precisão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organização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engenharia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estabilidade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434840" y="18288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Curvas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434840" y="2249424"/>
            <a:ext cx="91440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434840" y="2542032"/>
            <a:ext cx="356616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movimento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logística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relacionamento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proximidade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de formas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7.jpg"/>
          <p:cNvPicPr>
            <a:picLocks noChangeAspect="1"/>
          </p:cNvPicPr>
          <p:nvPr/>
        </p:nvPicPr>
        <p:blipFill>
          <a:blip r:embed="rId3"/>
          <a:srcRect t="18143" b="18143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DIREÇÃO FOTOGRÁFICA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 ABR deve mostrar a empresa em ação.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408176"/>
            <a:ext cx="6400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Escala, textura, profundidade e movimento precisam aparecer.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240280"/>
            <a:ext cx="56692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Produtos, estoque, fábrica, corte, dobra e produção
</a:t>
            </a:r>
            <a:endParaRPr lang="en-US" sz="1600" dirty="0"/>
          </a:p>
          <a:p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Carregamento, caminhões, entregas e operação logística
</a:t>
            </a:r>
            <a:endParaRPr lang="en-US" sz="1600" dirty="0"/>
          </a:p>
          <a:p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Obras, estruturas, clientes, colaboradores e atendimento
</a:t>
            </a:r>
            <a:endParaRPr lang="en-US" sz="1600" dirty="0"/>
          </a:p>
          <a:p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Prioridade para imagem real sempre que possível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Direção fotográfica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3.jpg"/>
          <p:cNvPicPr>
            <a:picLocks noChangeAspect="1"/>
          </p:cNvPicPr>
          <p:nvPr/>
        </p:nvPicPr>
        <p:blipFill>
          <a:blip r:embed="rId3"/>
          <a:srcRect l="32626" r="32626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TERRITÓRIO VISUAL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Indústria + relacionamento.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600200"/>
            <a:ext cx="6400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 com proximidade.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452254"/>
            <a:ext cx="6400800" cy="326274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Evitar visual genérico de material de construção
</a:t>
            </a:r>
            <a:endParaRPr lang="en-US" dirty="0"/>
          </a:p>
          <a:p>
            <a:r>
              <a:rPr lang="en-US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Evitar comunicação fria, complicada ou excessivamente tecnológica
</a:t>
            </a:r>
            <a:endParaRPr lang="en-US" dirty="0"/>
          </a:p>
          <a:p>
            <a:r>
              <a:rPr lang="en-US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Mostrar robustez industrial sem perder o lado humano
</a:t>
            </a:r>
            <a:endParaRPr lang="en-US" dirty="0"/>
          </a:p>
          <a:p>
            <a:r>
              <a:rPr lang="en-US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marca deve parecer capaz, próxima e confiável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Território visual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HIERARQUIA VISUAL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241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Toda peça precisa responder rápido.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691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Mensagem principal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é?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063240" y="2103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063240" y="2606040"/>
            <a:ext cx="1691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Informação de apoio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importa?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0" y="2103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2606040"/>
            <a:ext cx="1691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Evidência visual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mostre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543800" y="2103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543800" y="2606040"/>
            <a:ext cx="1691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CTA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fazer?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784080" y="2103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784080" y="2606040"/>
            <a:ext cx="1691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Marca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está dizendo?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Regra editorial: clareza antes de excesso de informação.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Hierarquia visual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1.jpg"/>
          <p:cNvPicPr>
            <a:picLocks noChangeAspect="1"/>
          </p:cNvPicPr>
          <p:nvPr/>
        </p:nvPicPr>
        <p:blipFill>
          <a:blip r:embed="rId3"/>
          <a:srcRect l="29625" r="29625"/>
          <a:stretch/>
        </p:blipFill>
        <p:spPr>
          <a:xfrm>
            <a:off x="7223760" y="0"/>
            <a:ext cx="49651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868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03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94360" y="1737360"/>
            <a:ext cx="6217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Mercado e concorrência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21792" y="3017520"/>
            <a:ext cx="5212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8DD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basta listar concorrentes: é preciso mapear territórios de disputa.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21792" y="4023360"/>
            <a:ext cx="155448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/mnt/data/abr_manual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301752"/>
            <a:ext cx="16002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RADAR COMPETITIVO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241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Concorrência não é uma categoria única.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2606040" cy="1325880"/>
          </a:xfrm>
          <a:prstGeom prst="rect">
            <a:avLst/>
          </a:prstGeom>
          <a:solidFill>
            <a:srgbClr val="E9EDF8"/>
          </a:solidFill>
          <a:ln>
            <a:solidFill>
              <a:srgbClr val="E9EDF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20440" y="1828800"/>
            <a:ext cx="2606040" cy="1325880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55080" y="1828800"/>
            <a:ext cx="2606040" cy="1325880"/>
          </a:xfrm>
          <a:prstGeom prst="rect">
            <a:avLst/>
          </a:prstGeom>
          <a:solidFill>
            <a:srgbClr val="E9EDF8"/>
          </a:solidFill>
          <a:ln>
            <a:solidFill>
              <a:srgbClr val="E9EDF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89720" y="1828800"/>
            <a:ext cx="2606040" cy="1325880"/>
          </a:xfrm>
          <a:prstGeom prst="rect">
            <a:avLst/>
          </a:prstGeom>
          <a:solidFill>
            <a:srgbClr val="FFF2DF"/>
          </a:solidFill>
          <a:ln>
            <a:solidFill>
              <a:srgbClr val="FFF2D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846320"/>
            <a:ext cx="10058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objetivo é descobrir que espaço cada concorrente ocupa — e qual espaço a ABR pode liderar.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Concorrência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E56EB79-8055-2A46-BF73-790345A900FE}"/>
              </a:ext>
            </a:extLst>
          </p:cNvPr>
          <p:cNvSpPr txBox="1"/>
          <p:nvPr/>
        </p:nvSpPr>
        <p:spPr>
          <a:xfrm>
            <a:off x="685800" y="1923992"/>
            <a:ext cx="2362200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Direta</a:t>
            </a: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 regional
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Disputa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preço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relacionamento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8C1B9B1-1751-6375-5EF9-1F6977D33874}"/>
              </a:ext>
            </a:extLst>
          </p:cNvPr>
          <p:cNvSpPr txBox="1"/>
          <p:nvPr/>
        </p:nvSpPr>
        <p:spPr>
          <a:xfrm>
            <a:off x="3604952" y="1884868"/>
            <a:ext cx="24370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Por </a:t>
            </a:r>
            <a:r>
              <a:rPr lang="en-US" sz="1800" b="1" dirty="0" err="1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segmento</a:t>
            </a: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
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Disputa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telhas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chapas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tubos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perfis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corte/dobra 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específicas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0A51EDD-587D-C1A7-F935-0B074C245675}"/>
              </a:ext>
            </a:extLst>
          </p:cNvPr>
          <p:cNvSpPr txBox="1"/>
          <p:nvPr/>
        </p:nvSpPr>
        <p:spPr>
          <a:xfrm>
            <a:off x="6537959" y="1888383"/>
            <a:ext cx="22319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Ampliada</a:t>
            </a: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
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Grandes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distribuidores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centros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serviço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empresas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outras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regiões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E0BF7E8-5989-B1F0-95DD-F140CB46C30A}"/>
              </a:ext>
            </a:extLst>
          </p:cNvPr>
          <p:cNvSpPr txBox="1"/>
          <p:nvPr/>
        </p:nvSpPr>
        <p:spPr>
          <a:xfrm>
            <a:off x="9318567" y="1884868"/>
            <a:ext cx="2385753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Atenção</a:t>
            </a: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
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Empresas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disputam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autoridade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conteúdo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confiança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público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.jpg"/>
          <p:cNvPicPr>
            <a:picLocks noChangeAspect="1"/>
          </p:cNvPicPr>
          <p:nvPr/>
        </p:nvPicPr>
        <p:blipFill>
          <a:blip r:embed="rId3"/>
          <a:srcRect l="32626" r="32626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BENCHMARK DE COMUNICAÇÃO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Analisar concorrente por comunicação, não só por preço.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600200"/>
            <a:ext cx="6400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observar em site, Instagram, LinkedIn, YouTube, TikTok e abordagem comercial.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03504" y="2542032"/>
            <a:ext cx="640080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Posicionamento e </a:t>
            </a:r>
            <a:r>
              <a:rPr lang="en-US" sz="160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promessa</a:t>
            </a:r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central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Produtos e </a:t>
            </a:r>
            <a:r>
              <a:rPr lang="en-US" sz="160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segmentos</a:t>
            </a:r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priorizados</a:t>
            </a:r>
            <a:endParaRPr lang="en-US" sz="1600" dirty="0">
              <a:solidFill>
                <a:srgbClr val="252A32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Tom de voz, estética e </a:t>
            </a:r>
            <a:r>
              <a:rPr lang="en-US" sz="160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frequência</a:t>
            </a:r>
            <a:endParaRPr lang="en-US" sz="1600" dirty="0">
              <a:solidFill>
                <a:srgbClr val="252A32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Provas de autoridade: cases, dados, técnica e </a:t>
            </a:r>
            <a:r>
              <a:rPr lang="en-US" sz="160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pessoas</a:t>
            </a:r>
            <a:endParaRPr lang="en-US" sz="1600" dirty="0">
              <a:solidFill>
                <a:srgbClr val="252A32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CTAs e caminho de </a:t>
            </a:r>
            <a:r>
              <a:rPr lang="en-US" sz="160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conversão</a:t>
            </a:r>
            <a:endParaRPr lang="en-US" sz="1600" dirty="0">
              <a:solidFill>
                <a:srgbClr val="252A32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Motivo real de perda no CRM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Benchmark de comunicação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ESPAÇO ESTRATÉGICO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6751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 ABR pode ocupar o território da decisão melhor.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58368" y="3611880"/>
            <a:ext cx="155448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58368" y="3886200"/>
            <a:ext cx="62179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6DC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apenas “quem vende aço”, mas quem entende aço, aplicação, logística, negócio e mercado.</a:t>
            </a:r>
            <a:endParaRPr lang="en-US" sz="1800" dirty="0"/>
          </a:p>
        </p:txBody>
      </p:sp>
      <p:pic>
        <p:nvPicPr>
          <p:cNvPr id="6" name="Image 0" descr="/mnt/data/abr_optimized/image3.jpg"/>
          <p:cNvPicPr>
            <a:picLocks noChangeAspect="1"/>
          </p:cNvPicPr>
          <p:nvPr/>
        </p:nvPicPr>
        <p:blipFill>
          <a:blip r:embed="rId3"/>
          <a:srcRect l="31876" r="31876"/>
          <a:stretch/>
        </p:blipFill>
        <p:spPr>
          <a:xfrm>
            <a:off x="7772400" y="0"/>
            <a:ext cx="4416552" cy="6858000"/>
          </a:xfrm>
          <a:prstGeom prst="rect">
            <a:avLst/>
          </a:prstGeom>
        </p:spPr>
      </p:pic>
      <p:pic>
        <p:nvPicPr>
          <p:cNvPr id="7" name="Image 1" descr="/mnt/data/abr_manual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301752"/>
            <a:ext cx="16002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1.jpg"/>
          <p:cNvPicPr>
            <a:picLocks noChangeAspect="1"/>
          </p:cNvPicPr>
          <p:nvPr/>
        </p:nvPicPr>
        <p:blipFill>
          <a:blip r:embed="rId3"/>
          <a:srcRect l="32626" r="32626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INTELIGÊNCIA COMERCIAL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 Google não vai mostrar quem realmente tira vendas da ABR.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600200"/>
            <a:ext cx="6400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CRM e o time comercial precisam virar fonte de inteligência competitiva.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240280"/>
            <a:ext cx="640080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Concorrente que levou o </a:t>
            </a:r>
            <a:r>
              <a:rPr lang="en-US" sz="18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negócio</a:t>
            </a:r>
            <a:endParaRPr lang="en-US" sz="1850" dirty="0">
              <a:solidFill>
                <a:srgbClr val="252A32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Motivo real da </a:t>
            </a:r>
            <a:r>
              <a:rPr lang="en-US" sz="18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perda</a:t>
            </a:r>
            <a:endParaRPr lang="en-US" sz="1850" dirty="0">
              <a:solidFill>
                <a:srgbClr val="252A32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endParaRPr lang="en-US" sz="18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Preço, prazo, disponibilidade, frete </a:t>
            </a:r>
            <a:r>
              <a:rPr lang="en-US" sz="18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relacionamento</a:t>
            </a:r>
            <a:endParaRPr lang="en-US" sz="1850" dirty="0">
              <a:solidFill>
                <a:srgbClr val="252A32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 reativável e grau de </a:t>
            </a:r>
            <a:r>
              <a:rPr lang="en-US" sz="18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risco</a:t>
            </a:r>
            <a:endParaRPr lang="en-US" sz="1850" dirty="0">
              <a:solidFill>
                <a:srgbClr val="252A32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Categoria/produto onde perdemos mais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Inteligência comercial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3.jpg"/>
          <p:cNvPicPr>
            <a:picLocks noChangeAspect="1"/>
          </p:cNvPicPr>
          <p:nvPr/>
        </p:nvPicPr>
        <p:blipFill>
          <a:blip r:embed="rId3"/>
          <a:srcRect l="29625" r="29625"/>
          <a:stretch/>
        </p:blipFill>
        <p:spPr>
          <a:xfrm>
            <a:off x="7223760" y="0"/>
            <a:ext cx="49651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868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04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94360" y="1737360"/>
            <a:ext cx="6217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Públicos e personas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21792" y="3017520"/>
            <a:ext cx="5212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8DD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Brand, buyer e audience personas precisam ser separadas.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21792" y="4023360"/>
            <a:ext cx="155448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/mnt/data/abr_manual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301752"/>
            <a:ext cx="16002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ARQUITETURA DE PÚBLICOS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Três perguntas diferentes. Três respostas diferentes.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057400"/>
            <a:ext cx="3337560" cy="1554480"/>
          </a:xfrm>
          <a:prstGeom prst="rect">
            <a:avLst/>
          </a:prstGeom>
          <a:solidFill>
            <a:srgbClr val="253575"/>
          </a:solidFill>
          <a:ln>
            <a:solidFill>
              <a:srgbClr val="25357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34840" y="2057400"/>
            <a:ext cx="3337560" cy="1554480"/>
          </a:xfrm>
          <a:prstGeom prst="rect">
            <a:avLst/>
          </a:prstGeom>
          <a:solidFill>
            <a:srgbClr val="E9EDF8"/>
          </a:solidFill>
          <a:ln>
            <a:solidFill>
              <a:srgbClr val="E9EDF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38160" y="2057400"/>
            <a:ext cx="3337560" cy="1554480"/>
          </a:xfrm>
          <a:prstGeom prst="rect">
            <a:avLst/>
          </a:prstGeom>
          <a:solidFill>
            <a:schemeClr val="accent2"/>
          </a:solidFill>
          <a:ln>
            <a:solidFill>
              <a:srgbClr val="EEF2F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4937760"/>
            <a:ext cx="10058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essas dimensões se misturam, o conteúdo fica genérico e o canal perde função.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364242F-7E02-3574-256C-7022D693F7FD}"/>
              </a:ext>
            </a:extLst>
          </p:cNvPr>
          <p:cNvSpPr txBox="1"/>
          <p:nvPr/>
        </p:nvSpPr>
        <p:spPr>
          <a:xfrm>
            <a:off x="827116" y="2282255"/>
            <a:ext cx="314636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BRAND PERSONA</a:t>
            </a:r>
            <a:r>
              <a:rPr lang="en-US" sz="18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
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a ABR é e </a:t>
            </a:r>
            <a:r>
              <a:rPr lang="en-US" sz="13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 </a:t>
            </a:r>
            <a:r>
              <a:rPr lang="en-US" sz="13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comportar</a:t>
            </a:r>
            <a:r>
              <a:rPr lang="en-US" sz="13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0F03EE1-F89C-ADEC-CD2E-DD9CADB37CAF}"/>
              </a:ext>
            </a:extLst>
          </p:cNvPr>
          <p:cNvSpPr txBox="1"/>
          <p:nvPr/>
        </p:nvSpPr>
        <p:spPr>
          <a:xfrm>
            <a:off x="4632959" y="2282255"/>
            <a:ext cx="289560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BUYER PERSONAS
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decide,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influencia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064565C-B976-4765-028F-A9A18B1AE8AE}"/>
              </a:ext>
            </a:extLst>
          </p:cNvPr>
          <p:cNvSpPr txBox="1"/>
          <p:nvPr/>
        </p:nvSpPr>
        <p:spPr>
          <a:xfrm>
            <a:off x="8350135" y="2282255"/>
            <a:ext cx="291361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AUDIENCE PERSONAS
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acompanha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aprende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recomenda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considera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.jpg"/>
          <p:cNvPicPr>
            <a:picLocks noChangeAspect="1"/>
          </p:cNvPicPr>
          <p:nvPr/>
        </p:nvPicPr>
        <p:blipFill>
          <a:blip r:embed="rId3"/>
          <a:srcRect l="32626" r="32626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BUYER PERSONAS — VAREJO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Varejo não é um público único.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490472"/>
            <a:ext cx="6400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perfil compra por uma dor diferente.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240280"/>
            <a:ext cx="640080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Serralheiro: preço, medida, disponibilidade e </a:t>
            </a:r>
            <a:r>
              <a:rPr lang="en-US" sz="18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produtividade</a:t>
            </a:r>
            <a:endParaRPr lang="en-US" sz="1850" dirty="0">
              <a:solidFill>
                <a:srgbClr val="252A32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457200" indent="-457200">
              <a:buFont typeface="+mj-lt"/>
              <a:buAutoNum type="arabicPeriod"/>
            </a:pPr>
            <a:endParaRPr lang="en-US" sz="1850" dirty="0"/>
          </a:p>
          <a:p>
            <a:pPr marL="457200" indent="-457200">
              <a:buFont typeface="+mj-lt"/>
              <a:buAutoNum type="arabicPeriod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Calheiro/coberturista: aplicação correta, telha, bobina, cobertura e </a:t>
            </a:r>
            <a:r>
              <a:rPr lang="en-US" sz="18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retrabalho</a:t>
            </a:r>
            <a:endParaRPr lang="en-US" sz="1850" dirty="0">
              <a:solidFill>
                <a:srgbClr val="252A32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457200" indent="-457200">
              <a:buFont typeface="+mj-lt"/>
              <a:buAutoNum type="arabicPeriod"/>
            </a:pPr>
            <a:endParaRPr lang="en-US" sz="1850" dirty="0"/>
          </a:p>
          <a:p>
            <a:pPr marL="457200" indent="-457200">
              <a:buFont typeface="+mj-lt"/>
              <a:buAutoNum type="arabicPeriod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Pedreiro/empreiteiro: lista de material, obra, urgência e </a:t>
            </a:r>
            <a:r>
              <a:rPr lang="en-US" sz="18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orientação</a:t>
            </a: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simples</a:t>
            </a:r>
          </a:p>
          <a:p>
            <a:pPr marL="457200" indent="-457200">
              <a:buFont typeface="+mj-lt"/>
              <a:buAutoNum type="arabicPeriod"/>
            </a:pPr>
            <a:endParaRPr lang="en-US" sz="1850" dirty="0"/>
          </a:p>
          <a:p>
            <a:pPr marL="457200" indent="-457200">
              <a:buFont typeface="+mj-lt"/>
              <a:buAutoNum type="arabicPeriod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Microempresário: margem, prazo, estoque e </a:t>
            </a:r>
            <a:r>
              <a:rPr lang="en-US" sz="18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recorrência</a:t>
            </a:r>
            <a:endParaRPr lang="en-US" sz="1850" dirty="0">
              <a:solidFill>
                <a:srgbClr val="252A32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457200" indent="-457200">
              <a:buFont typeface="+mj-lt"/>
              <a:buAutoNum type="arabicPeriod"/>
            </a:pPr>
            <a:endParaRPr lang="en-US" sz="1850" dirty="0"/>
          </a:p>
          <a:p>
            <a:pPr marL="457200" indent="-457200">
              <a:buFont typeface="+mj-lt"/>
              <a:buAutoNum type="arabicPeriod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 final: inspiração, confiança e visualização da obra pronta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Buyer personas — varejo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1.jpg"/>
          <p:cNvPicPr>
            <a:picLocks noChangeAspect="1"/>
          </p:cNvPicPr>
          <p:nvPr/>
        </p:nvPicPr>
        <p:blipFill>
          <a:blip r:embed="rId3"/>
          <a:srcRect l="32626" r="32626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BUYER PERSONAS — ATACADO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No atacado, quem compra é uma organização — mas quem decide são pessoas.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600199"/>
            <a:ext cx="6400800" cy="51954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Distribuidores, revendas, construtoras, indústrias e grandes operações exigem leitura de comitê de compra.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94360" y="2711334"/>
            <a:ext cx="640080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Dono/diretor: risco, margem e </a:t>
            </a:r>
            <a:r>
              <a:rPr lang="en-US" sz="18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crescimento</a:t>
            </a:r>
            <a:endParaRPr lang="en-US" sz="1850" dirty="0">
              <a:solidFill>
                <a:srgbClr val="252A32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Comprador: preço, condição e </a:t>
            </a:r>
            <a:r>
              <a:rPr lang="en-US" sz="18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disponibilidade</a:t>
            </a:r>
            <a:endParaRPr lang="en-US" sz="1850" dirty="0">
              <a:solidFill>
                <a:srgbClr val="252A32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Engenharia: especificação e </a:t>
            </a:r>
            <a:r>
              <a:rPr lang="en-US" sz="18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confiabilidade</a:t>
            </a:r>
            <a:endParaRPr lang="en-US" sz="1850" dirty="0">
              <a:solidFill>
                <a:srgbClr val="252A32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Produção/obra: prazo e </a:t>
            </a:r>
            <a:r>
              <a:rPr lang="en-US" sz="18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continuidade</a:t>
            </a:r>
            <a:endParaRPr lang="en-US" sz="1850" dirty="0">
              <a:solidFill>
                <a:srgbClr val="252A32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Financeiro: crédito, prazo e previsibilidade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Buyer personas — atacado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3.jpg"/>
          <p:cNvPicPr>
            <a:picLocks noChangeAspect="1"/>
          </p:cNvPicPr>
          <p:nvPr/>
        </p:nvPicPr>
        <p:blipFill>
          <a:blip r:embed="rId3"/>
          <a:srcRect l="34690" r="34690"/>
          <a:stretch/>
        </p:blipFill>
        <p:spPr>
          <a:xfrm>
            <a:off x="8458200" y="0"/>
            <a:ext cx="37307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SEGMENTOS PRIORITÁRIOS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74980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 mensagem muda conforme o modelo de negócio.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Atacado e revenda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2249424"/>
            <a:ext cx="91440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40080" y="2542032"/>
            <a:ext cx="347472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distribuidores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lojas de materiais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revendas regionais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estoque e giro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434840" y="18288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Obra e indústria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434840" y="2249424"/>
            <a:ext cx="91440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434840" y="2542032"/>
            <a:ext cx="356616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construtoras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metálicas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indústria de transformação
</a:t>
            </a:r>
            <a:endParaRPr lang="en-US" sz="1650" dirty="0"/>
          </a:p>
          <a:p>
            <a:r>
              <a:rPr lang="en-US" sz="16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grande agro e solar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Segmentos prioritários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7.jpg"/>
          <p:cNvPicPr>
            <a:picLocks noChangeAspect="1"/>
          </p:cNvPicPr>
          <p:nvPr/>
        </p:nvPicPr>
        <p:blipFill>
          <a:blip r:embed="rId3"/>
          <a:srcRect t="18143" b="18143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AUDIENCE PERSONAS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Nem todo seguidor está comprando hoje. Mesmo assim, ele pode construir marca.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600200"/>
            <a:ext cx="6400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audiência amplia lembrança, autoridade e consideração.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424544"/>
            <a:ext cx="6400800" cy="329045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Quero construir: inspiração em galpões, coberturas, chalés e estruturas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Quero aprender: conteúdos técnicos, aplicação e bastidores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Quero melhorar meu negócio: margem, estoque, produtividade e compra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Quero entender o mercado: LinkedIn, dados, tendências e gestão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Quero conhecer a ABR: pessoas, cultura, operação e confiança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Audience personas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CATEGORY ENTRY POINTS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60572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Quando o cliente precisa lembrar da ABR?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354164"/>
            <a:ext cx="3154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Ganhei uma obra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297680" y="2354164"/>
            <a:ext cx="3154680" cy="384048"/>
          </a:xfrm>
          <a:prstGeom prst="rect">
            <a:avLst/>
          </a:prstGeom>
          <a:solidFill>
            <a:srgbClr val="FFF2DF"/>
          </a:solidFill>
          <a:ln>
            <a:solidFill>
              <a:srgbClr val="FFF2D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Meu fornecedor atrasou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994244"/>
            <a:ext cx="3154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Preciso cotar uma carga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297680" y="2994244"/>
            <a:ext cx="3154680" cy="384048"/>
          </a:xfrm>
          <a:prstGeom prst="rect">
            <a:avLst/>
          </a:prstGeom>
          <a:solidFill>
            <a:srgbClr val="FFF2DF"/>
          </a:solidFill>
          <a:ln>
            <a:solidFill>
              <a:srgbClr val="FFF2D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Quero construir um galpão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3634324"/>
            <a:ext cx="3154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Meu estoque está acabando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297680" y="3634324"/>
            <a:ext cx="3154680" cy="384048"/>
          </a:xfrm>
          <a:prstGeom prst="rect">
            <a:avLst/>
          </a:prstGeom>
          <a:solidFill>
            <a:srgbClr val="FFF2DF"/>
          </a:solidFill>
          <a:ln>
            <a:solidFill>
              <a:srgbClr val="FFF2D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sei qual telha usar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4274404"/>
            <a:ext cx="3154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Preciso reduzir desperdício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297680" y="4274404"/>
            <a:ext cx="3154680" cy="384048"/>
          </a:xfrm>
          <a:prstGeom prst="rect">
            <a:avLst/>
          </a:prstGeom>
          <a:solidFill>
            <a:srgbClr val="FFF2DF"/>
          </a:solidFill>
          <a:ln>
            <a:solidFill>
              <a:srgbClr val="FFF2D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Minha produção aumentou</a:t>
            </a:r>
            <a:endParaRPr lang="en-US" sz="1550" dirty="0"/>
          </a:p>
        </p:txBody>
      </p:sp>
      <p:pic>
        <p:nvPicPr>
          <p:cNvPr id="12" name="Image 0" descr="/mnt/data/abr_optimized/image1.jpg"/>
          <p:cNvPicPr>
            <a:picLocks noChangeAspect="1"/>
          </p:cNvPicPr>
          <p:nvPr/>
        </p:nvPicPr>
        <p:blipFill>
          <a:blip r:embed="rId3"/>
          <a:srcRect l="32439" r="32439"/>
          <a:stretch/>
        </p:blipFill>
        <p:spPr>
          <a:xfrm>
            <a:off x="7909560" y="0"/>
            <a:ext cx="4279392" cy="6858000"/>
          </a:xfrm>
          <a:prstGeom prst="rect">
            <a:avLst/>
          </a:prstGeom>
        </p:spPr>
      </p:pic>
      <p:pic>
        <p:nvPicPr>
          <p:cNvPr id="13" name="Image 1" descr="/mnt/data/abr_manual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301752"/>
            <a:ext cx="16002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JORNADA DE COMPRA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4241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Conteúdo precisa aparecer antes da cotação.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2423160" cy="530352"/>
          </a:xfrm>
          <a:prstGeom prst="rect">
            <a:avLst/>
          </a:prstGeom>
          <a:solidFill>
            <a:srgbClr val="253575"/>
          </a:solidFill>
          <a:ln>
            <a:solidFill>
              <a:srgbClr val="25357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Descoberta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3474720" y="2011680"/>
            <a:ext cx="2423160" cy="530352"/>
          </a:xfrm>
          <a:prstGeom prst="rect">
            <a:avLst/>
          </a:prstGeom>
          <a:solidFill>
            <a:srgbClr val="253575"/>
          </a:solidFill>
          <a:ln>
            <a:solidFill>
              <a:srgbClr val="25357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Aprendizado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309360" y="2011680"/>
            <a:ext cx="2423160" cy="530352"/>
          </a:xfrm>
          <a:prstGeom prst="rect">
            <a:avLst/>
          </a:prstGeom>
          <a:solidFill>
            <a:srgbClr val="253575"/>
          </a:solidFill>
          <a:ln>
            <a:solidFill>
              <a:srgbClr val="25357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Consideração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0" y="2011680"/>
            <a:ext cx="2423160" cy="530352"/>
          </a:xfrm>
          <a:prstGeom prst="rect">
            <a:avLst/>
          </a:prstGeom>
          <a:solidFill>
            <a:srgbClr val="F18800"/>
          </a:solidFill>
          <a:ln>
            <a:solidFill>
              <a:srgbClr val="F188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Cotação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423160" cy="530352"/>
          </a:xfrm>
          <a:prstGeom prst="rect">
            <a:avLst/>
          </a:prstGeom>
          <a:solidFill>
            <a:srgbClr val="F18800"/>
          </a:solidFill>
          <a:ln>
            <a:solidFill>
              <a:srgbClr val="F188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Compra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474720" y="3200400"/>
            <a:ext cx="2423160" cy="530352"/>
          </a:xfrm>
          <a:prstGeom prst="rect">
            <a:avLst/>
          </a:prstGeom>
          <a:solidFill>
            <a:srgbClr val="142758"/>
          </a:solidFill>
          <a:ln>
            <a:solidFill>
              <a:srgbClr val="14275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 Entrega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309360" y="3200400"/>
            <a:ext cx="2423160" cy="530352"/>
          </a:xfrm>
          <a:prstGeom prst="rect">
            <a:avLst/>
          </a:prstGeom>
          <a:solidFill>
            <a:srgbClr val="142758"/>
          </a:solidFill>
          <a:ln>
            <a:solidFill>
              <a:srgbClr val="14275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 Pós-venda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144000" y="3200400"/>
            <a:ext cx="2423160" cy="530352"/>
          </a:xfrm>
          <a:prstGeom prst="rect">
            <a:avLst/>
          </a:prstGeom>
          <a:solidFill>
            <a:srgbClr val="142758"/>
          </a:solidFill>
          <a:ln>
            <a:solidFill>
              <a:srgbClr val="14275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 Recompra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5029200"/>
            <a:ext cx="10058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maioria das empresas briga apenas no fim da jornada: “compre de mim”. A ABR precisa estar presente muito antes.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Jornada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.jpg"/>
          <p:cNvPicPr>
            <a:picLocks noChangeAspect="1"/>
          </p:cNvPicPr>
          <p:nvPr/>
        </p:nvPicPr>
        <p:blipFill>
          <a:blip r:embed="rId3"/>
          <a:srcRect l="29625" r="29625"/>
          <a:stretch/>
        </p:blipFill>
        <p:spPr>
          <a:xfrm>
            <a:off x="7223760" y="0"/>
            <a:ext cx="49651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868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05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94360" y="1737360"/>
            <a:ext cx="6217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Diagnóstico da comunicação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21792" y="3017520"/>
            <a:ext cx="5212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8DD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Agora que sabemos quem somos, onde competimos e com quem falamos, podemos avaliar o presente.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21792" y="4023360"/>
            <a:ext cx="155448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/mnt/data/abr_manual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301752"/>
            <a:ext cx="16002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SWOT DA COMUNICAÇÃO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Oportunidade clara: sair da comunicação de produto para comunicação de valor.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394960" cy="1234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E9EDF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172200" y="1828800"/>
            <a:ext cx="5394960" cy="12344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EEF2F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5394960" cy="12344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72200" y="3657600"/>
            <a:ext cx="5394960" cy="1234440"/>
          </a:xfrm>
          <a:prstGeom prst="rect">
            <a:avLst/>
          </a:prstGeom>
          <a:solidFill>
            <a:srgbClr val="FFA3A3"/>
          </a:solidFill>
          <a:ln>
            <a:solidFill>
              <a:srgbClr val="E9EDF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SWOT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E508E83-F5FB-4CCA-43CC-94F4A1051429}"/>
              </a:ext>
            </a:extLst>
          </p:cNvPr>
          <p:cNvSpPr txBox="1"/>
          <p:nvPr/>
        </p:nvSpPr>
        <p:spPr>
          <a:xfrm>
            <a:off x="746760" y="2053605"/>
            <a:ext cx="503058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FORÇAS
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Operação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real,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portfólio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amplo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logística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equipe,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visual forte 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potencial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ParceirAço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CD6B095-1BFB-3A31-012F-049E62502574}"/>
              </a:ext>
            </a:extLst>
          </p:cNvPr>
          <p:cNvSpPr txBox="1"/>
          <p:nvPr/>
        </p:nvSpPr>
        <p:spPr>
          <a:xfrm>
            <a:off x="6213763" y="2053605"/>
            <a:ext cx="514308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FRAQUEZAS
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Calendário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antes da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estratégia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mistura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B2B/B2C,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poucos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cases e dados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internos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pouco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explorados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6BFA726-55FC-B185-C014-97C2CDE9EEF1}"/>
              </a:ext>
            </a:extLst>
          </p:cNvPr>
          <p:cNvSpPr txBox="1"/>
          <p:nvPr/>
        </p:nvSpPr>
        <p:spPr>
          <a:xfrm>
            <a:off x="899160" y="3824910"/>
            <a:ext cx="4878185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OPORTUNIDADES
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Autoridade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simples,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pronta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conteúdo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negócio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CRM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inteligência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diferenciação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regional.</a:t>
            </a:r>
            <a:endParaRPr lang="en-US" sz="18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A9B7B23-186A-E6CB-AD12-E19166C460F5}"/>
              </a:ext>
            </a:extLst>
          </p:cNvPr>
          <p:cNvSpPr txBox="1"/>
          <p:nvPr/>
        </p:nvSpPr>
        <p:spPr>
          <a:xfrm>
            <a:off x="6294120" y="3778530"/>
            <a:ext cx="4087091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AMEAÇAS
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Guerra de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preço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conteúdo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genérico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concorrentes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técnicos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baixa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previsibilidade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orgânica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comoditização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 DE PERCEPÇÃO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1097279"/>
            <a:ext cx="6675120" cy="251459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De “vende aço” para “entende o negócio por trás do aço”.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58368" y="3611880"/>
            <a:ext cx="155448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58368" y="3886200"/>
            <a:ext cx="62179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6DC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Esse é o salto que a comunicação deve construir na cabeça do mercado.</a:t>
            </a:r>
            <a:endParaRPr lang="en-US" sz="1800" dirty="0"/>
          </a:p>
        </p:txBody>
      </p:sp>
      <p:pic>
        <p:nvPicPr>
          <p:cNvPr id="6" name="Image 0" descr="/mnt/data/abr_optimized/image11.jpg"/>
          <p:cNvPicPr>
            <a:picLocks noChangeAspect="1"/>
          </p:cNvPicPr>
          <p:nvPr/>
        </p:nvPicPr>
        <p:blipFill>
          <a:blip r:embed="rId3"/>
          <a:srcRect l="31876" r="31876"/>
          <a:stretch/>
        </p:blipFill>
        <p:spPr>
          <a:xfrm>
            <a:off x="7772400" y="0"/>
            <a:ext cx="4416552" cy="6858000"/>
          </a:xfrm>
          <a:prstGeom prst="rect">
            <a:avLst/>
          </a:prstGeom>
        </p:spPr>
      </p:pic>
      <p:pic>
        <p:nvPicPr>
          <p:cNvPr id="7" name="Image 1" descr="/mnt/data/abr_manual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301752"/>
            <a:ext cx="16002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3.jpg"/>
          <p:cNvPicPr>
            <a:picLocks noChangeAspect="1"/>
          </p:cNvPicPr>
          <p:nvPr/>
        </p:nvPicPr>
        <p:blipFill>
          <a:blip r:embed="rId3"/>
          <a:srcRect l="32626" r="32626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POSICIONAMENTO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 ParceirAço que entende aço, aplicação, logística e negócio.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600200"/>
            <a:ext cx="6400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ABR deve ser lembrada como parceira especialista, não apenas fornecedora.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240280"/>
            <a:ext cx="640080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Aço como solução, não </a:t>
            </a:r>
            <a:r>
              <a:rPr lang="en-US" sz="18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apenas</a:t>
            </a: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50" dirty="0" err="1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produto</a:t>
            </a:r>
            <a:endParaRPr lang="en-US" sz="1850" dirty="0">
              <a:solidFill>
                <a:srgbClr val="252A32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Conteúdo orientado por decisões reais dos clients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 técnica, prática, regional e Empresarial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Prova visual: operação, pessoas, obras e resultados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Posicionamento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7.jpg"/>
          <p:cNvPicPr>
            <a:picLocks noChangeAspect="1"/>
          </p:cNvPicPr>
          <p:nvPr/>
        </p:nvPicPr>
        <p:blipFill>
          <a:blip r:embed="rId3"/>
          <a:srcRect t="22836" b="22836"/>
          <a:stretch/>
        </p:blipFill>
        <p:spPr>
          <a:xfrm>
            <a:off x="7223760" y="0"/>
            <a:ext cx="49651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868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06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94360" y="1737360"/>
            <a:ext cx="6217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Linha editorial completa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21792" y="3017520"/>
            <a:ext cx="5212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8DD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editorial passa a ser um sistema, não uma lista de posts.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21792" y="4023360"/>
            <a:ext cx="155448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/mnt/data/abr_manual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301752"/>
            <a:ext cx="16002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TESE EDITORIAL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6751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Não queremos falar mais sobre aço. Queremos falar melhor sobre tudo o que o aço torna possível.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58368" y="3611880"/>
            <a:ext cx="155448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58368" y="3886200"/>
            <a:ext cx="62179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6DC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Construir, produzir, vender, entregar, proteger, crescer e transformar.</a:t>
            </a:r>
            <a:endParaRPr lang="en-US" sz="1800" dirty="0"/>
          </a:p>
        </p:txBody>
      </p:sp>
      <p:pic>
        <p:nvPicPr>
          <p:cNvPr id="6" name="Image 0" descr="/mnt/data/abr_optimized/image3.jpg"/>
          <p:cNvPicPr>
            <a:picLocks noChangeAspect="1"/>
          </p:cNvPicPr>
          <p:nvPr/>
        </p:nvPicPr>
        <p:blipFill>
          <a:blip r:embed="rId3"/>
          <a:srcRect l="31876" r="31876"/>
          <a:stretch/>
        </p:blipFill>
        <p:spPr>
          <a:xfrm>
            <a:off x="7772400" y="0"/>
            <a:ext cx="4416552" cy="6858000"/>
          </a:xfrm>
          <a:prstGeom prst="rect">
            <a:avLst/>
          </a:prstGeom>
        </p:spPr>
      </p:pic>
      <p:pic>
        <p:nvPicPr>
          <p:cNvPr id="7" name="Image 1" descr="/mnt/data/abr_manual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301752"/>
            <a:ext cx="16002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.jpg"/>
          <p:cNvPicPr>
            <a:picLocks noChangeAspect="1"/>
          </p:cNvPicPr>
          <p:nvPr/>
        </p:nvPicPr>
        <p:blipFill>
          <a:blip r:embed="rId3"/>
          <a:srcRect l="33189" r="33189"/>
          <a:stretch/>
        </p:blipFill>
        <p:spPr>
          <a:xfrm>
            <a:off x="8092440" y="0"/>
            <a:ext cx="40965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EDITORIAL COMPLETA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719072" y="841248"/>
            <a:ext cx="5943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Inteligência do Aço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76656" y="1691640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Construir autoridade de mercado e tornar a ABR fonte de leitura regional.</a:t>
            </a:r>
            <a:endParaRPr lang="en-US" sz="1820" dirty="0"/>
          </a:p>
        </p:txBody>
      </p:sp>
      <p:sp>
        <p:nvSpPr>
          <p:cNvPr id="7" name="Text 4"/>
          <p:cNvSpPr/>
          <p:nvPr/>
        </p:nvSpPr>
        <p:spPr>
          <a:xfrm>
            <a:off x="676656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Assuntos-base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3063240"/>
            <a:ext cx="338328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mercado do aço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construção e indústria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preço, logística e câmbio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consumo e comportamento regional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438912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Públicos e canais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89120" y="3063240"/>
            <a:ext cx="29260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Personas: diretores, compradores, construtoras, indústrias, investidores</a:t>
            </a:r>
            <a:endParaRPr lang="en-US" sz="1560" dirty="0"/>
          </a:p>
          <a:p>
            <a:pPr marL="0" indent="0">
              <a:buNone/>
            </a:pP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Canais prioritários: LinkedIn e YouTube</a:t>
            </a:r>
            <a:endParaRPr lang="en-US" sz="156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editorial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3.jpg"/>
          <p:cNvPicPr>
            <a:picLocks noChangeAspect="1"/>
          </p:cNvPicPr>
          <p:nvPr/>
        </p:nvPicPr>
        <p:blipFill>
          <a:blip r:embed="rId3"/>
          <a:srcRect l="33189" r="33189"/>
          <a:stretch/>
        </p:blipFill>
        <p:spPr>
          <a:xfrm>
            <a:off x="8092440" y="0"/>
            <a:ext cx="40965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EDITORIAL COMPLETA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719072" y="841248"/>
            <a:ext cx="5943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Engenharia &amp; Aplicação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76656" y="1691640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Demonstrar conhecimento técnico sem comunicação complicada.</a:t>
            </a:r>
            <a:endParaRPr lang="en-US" sz="1820" dirty="0"/>
          </a:p>
        </p:txBody>
      </p:sp>
      <p:sp>
        <p:nvSpPr>
          <p:cNvPr id="7" name="Text 4"/>
          <p:cNvSpPr/>
          <p:nvPr/>
        </p:nvSpPr>
        <p:spPr>
          <a:xfrm>
            <a:off x="676656" y="2760103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Assuntos-base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3125863"/>
            <a:ext cx="338328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diferenças entre produtos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medidas, espessuras e tolerâncias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normas e aplicações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erros de especificação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4389120" y="2760103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Públicos e canais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89120" y="3125863"/>
            <a:ext cx="29260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Personas: engenheiros, serralheiros, calheiros, compradores técnicos</a:t>
            </a:r>
            <a:endParaRPr lang="en-US" sz="1560" dirty="0"/>
          </a:p>
          <a:p>
            <a:pPr marL="0" indent="0">
              <a:buNone/>
            </a:pP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Canais prioritários: LinkedIn, YouTube, Instagram</a:t>
            </a:r>
            <a:endParaRPr lang="en-US" sz="156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editorial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3.jpg"/>
          <p:cNvPicPr>
            <a:picLocks noChangeAspect="1"/>
          </p:cNvPicPr>
          <p:nvPr/>
        </p:nvPicPr>
        <p:blipFill>
          <a:blip r:embed="rId3"/>
          <a:srcRect l="33189" r="33189"/>
          <a:stretch/>
        </p:blipFill>
        <p:spPr>
          <a:xfrm>
            <a:off x="8092440" y="0"/>
            <a:ext cx="40965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EDITORIAL COMPLETA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719072" y="841248"/>
            <a:ext cx="5943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Do Aço à Obra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76656" y="1691640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Transformar produto em resultado visível.</a:t>
            </a:r>
            <a:endParaRPr lang="en-US" sz="1820" dirty="0"/>
          </a:p>
        </p:txBody>
      </p:sp>
      <p:sp>
        <p:nvSpPr>
          <p:cNvPr id="7" name="Text 4"/>
          <p:cNvSpPr/>
          <p:nvPr/>
        </p:nvSpPr>
        <p:spPr>
          <a:xfrm>
            <a:off x="676656" y="2962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Assuntos-base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3328416"/>
            <a:ext cx="338328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galpões, chalés e coberturas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metálicas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antes/depois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materiais aplicados na prática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4389120" y="2962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Públicos e canais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89120" y="3328416"/>
            <a:ext cx="29260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Personas: cliente final, construtoras, engenheiros, público aspiracional</a:t>
            </a:r>
            <a:endParaRPr lang="en-US" sz="1560" dirty="0"/>
          </a:p>
          <a:p>
            <a:pPr marL="0" indent="0">
              <a:buNone/>
            </a:pP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Canais prioritários: Instagram, TikTok, YouTube</a:t>
            </a:r>
            <a:endParaRPr lang="en-US" sz="156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editorial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1.jpg"/>
          <p:cNvPicPr>
            <a:picLocks noChangeAspect="1"/>
          </p:cNvPicPr>
          <p:nvPr/>
        </p:nvPicPr>
        <p:blipFill>
          <a:blip r:embed="rId3"/>
          <a:srcRect l="33189" r="33189"/>
          <a:stretch/>
        </p:blipFill>
        <p:spPr>
          <a:xfrm>
            <a:off x="8092440" y="0"/>
            <a:ext cx="40965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EDITORIAL COMPLETA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719072" y="841248"/>
            <a:ext cx="609489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Negócios que Crescem com Aço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76656" y="1691640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Falar com empresários sobre margem, estoque, produtividade e decisão.</a:t>
            </a:r>
            <a:endParaRPr lang="en-US" sz="1820" dirty="0"/>
          </a:p>
        </p:txBody>
      </p:sp>
      <p:sp>
        <p:nvSpPr>
          <p:cNvPr id="7" name="Text 4"/>
          <p:cNvSpPr/>
          <p:nvPr/>
        </p:nvSpPr>
        <p:spPr>
          <a:xfrm>
            <a:off x="713232" y="2768831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Assuntos-base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9808" y="3134591"/>
            <a:ext cx="338328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estoque e giro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 total de compra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desperdício e perdas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planejamento de compra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4425696" y="2768831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Públicos e canais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425696" y="3134591"/>
            <a:ext cx="29260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Personas: revendas, distribuidores, microempresários, indústria</a:t>
            </a:r>
            <a:endParaRPr lang="en-US" sz="1560" dirty="0"/>
          </a:p>
          <a:p>
            <a:pPr marL="0" indent="0">
              <a:buNone/>
            </a:pP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Canais prioritários: LinkedIn, YouTube, Meta remarketing</a:t>
            </a:r>
            <a:endParaRPr lang="en-US" sz="156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editorial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7.jpg"/>
          <p:cNvPicPr>
            <a:picLocks noChangeAspect="1"/>
          </p:cNvPicPr>
          <p:nvPr/>
        </p:nvPicPr>
        <p:blipFill>
          <a:blip r:embed="rId3"/>
          <a:srcRect t="17076" b="17076"/>
          <a:stretch/>
        </p:blipFill>
        <p:spPr>
          <a:xfrm>
            <a:off x="8092440" y="0"/>
            <a:ext cx="40965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EDITORIAL COMPLETA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719072" y="841248"/>
            <a:ext cx="5943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Por Dentro da ABR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76656" y="1691640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Transformar a operação em prova de confiança.</a:t>
            </a:r>
            <a:endParaRPr lang="en-US" sz="1820" dirty="0"/>
          </a:p>
        </p:txBody>
      </p:sp>
      <p:sp>
        <p:nvSpPr>
          <p:cNvPr id="7" name="Text 4"/>
          <p:cNvSpPr/>
          <p:nvPr/>
        </p:nvSpPr>
        <p:spPr>
          <a:xfrm>
            <a:off x="676656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Assuntos-base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2971800"/>
            <a:ext cx="338328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produção e corte/dobra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estoque e expedição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frota e carregamento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pessoas e bastidores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438912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Públicos e canais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89120" y="2971800"/>
            <a:ext cx="29260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Personas: clientes, fornecedores, talentos, comunidade e parceiros</a:t>
            </a:r>
            <a:endParaRPr lang="en-US" sz="1560" dirty="0"/>
          </a:p>
          <a:p>
            <a:pPr marL="0" indent="0">
              <a:buNone/>
            </a:pP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Canais prioritários: Instagram, TikTok, LinkedIn</a:t>
            </a:r>
            <a:endParaRPr lang="en-US" sz="156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editorial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3.jpg"/>
          <p:cNvPicPr>
            <a:picLocks noChangeAspect="1"/>
          </p:cNvPicPr>
          <p:nvPr/>
        </p:nvPicPr>
        <p:blipFill>
          <a:blip r:embed="rId3"/>
          <a:srcRect l="33189" r="33189"/>
          <a:stretch/>
        </p:blipFill>
        <p:spPr>
          <a:xfrm>
            <a:off x="8092440" y="0"/>
            <a:ext cx="40965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EDITORIAL COMPLETA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06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719072" y="841248"/>
            <a:ext cx="5943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Gente que Constrói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76656" y="1691640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Colocar o cliente como protagonista da marca.</a:t>
            </a:r>
            <a:endParaRPr lang="en-US" sz="1820" dirty="0"/>
          </a:p>
        </p:txBody>
      </p:sp>
      <p:sp>
        <p:nvSpPr>
          <p:cNvPr id="7" name="Text 4"/>
          <p:cNvSpPr/>
          <p:nvPr/>
        </p:nvSpPr>
        <p:spPr>
          <a:xfrm>
            <a:off x="676656" y="26289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Assuntos-base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2994660"/>
            <a:ext cx="338328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cases de clientes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obra ABR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serralheiro/calheiro da semana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histórias de crescimento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4389120" y="26289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Públicos e canais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89120" y="2994660"/>
            <a:ext cx="29260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Personas: clientes atuais, prospects, audiência regional</a:t>
            </a:r>
            <a:endParaRPr lang="en-US" sz="1560" dirty="0"/>
          </a:p>
          <a:p>
            <a:pPr marL="0" indent="0">
              <a:buNone/>
            </a:pP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Canais prioritários: Instagram, LinkedIn, YouTube Shorts</a:t>
            </a:r>
            <a:endParaRPr lang="en-US" sz="156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editorial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.jpg"/>
          <p:cNvPicPr>
            <a:picLocks noChangeAspect="1"/>
          </p:cNvPicPr>
          <p:nvPr/>
        </p:nvPicPr>
        <p:blipFill>
          <a:blip r:embed="rId3"/>
          <a:srcRect l="33189" r="33189"/>
          <a:stretch/>
        </p:blipFill>
        <p:spPr>
          <a:xfrm>
            <a:off x="8092440" y="0"/>
            <a:ext cx="40965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EDITORIAL COMPLETA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07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719072" y="841248"/>
            <a:ext cx="5943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Soluções ABR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76656" y="1691640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Apresentar produto a partir do problema que ele resolve.</a:t>
            </a:r>
            <a:endParaRPr lang="en-US" sz="1820" dirty="0"/>
          </a:p>
        </p:txBody>
      </p:sp>
      <p:sp>
        <p:nvSpPr>
          <p:cNvPr id="7" name="Text 4"/>
          <p:cNvSpPr/>
          <p:nvPr/>
        </p:nvSpPr>
        <p:spPr>
          <a:xfrm>
            <a:off x="676656" y="2746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Assuntos-base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3112008"/>
            <a:ext cx="338328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usar cada produto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combinações de materiais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soluções para cobertura, obra e indústria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comparativos práticos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4389120" y="2746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Públicos e canais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89120" y="3112008"/>
            <a:ext cx="29260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Personas: varejo, atacado, compradores e técnicos</a:t>
            </a:r>
            <a:endParaRPr lang="en-US" sz="1560" dirty="0"/>
          </a:p>
          <a:p>
            <a:pPr marL="0" indent="0">
              <a:buNone/>
            </a:pP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Canais prioritários: Todos os canais com adaptação</a:t>
            </a:r>
            <a:endParaRPr lang="en-US" sz="156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editorial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1.jpg"/>
          <p:cNvPicPr>
            <a:picLocks noChangeAspect="1"/>
          </p:cNvPicPr>
          <p:nvPr/>
        </p:nvPicPr>
        <p:blipFill>
          <a:blip r:embed="rId3"/>
          <a:srcRect l="33189" r="33189"/>
          <a:stretch/>
        </p:blipFill>
        <p:spPr>
          <a:xfrm>
            <a:off x="8092440" y="0"/>
            <a:ext cx="40965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EDITORIAL COMPLETA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08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719072" y="841248"/>
            <a:ext cx="5943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Oportunidades ABR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76656" y="1691640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Reservar espaço claro para ações comerciais sem transformar a marca em promoção.</a:t>
            </a:r>
            <a:endParaRPr lang="en-US" sz="1820" dirty="0"/>
          </a:p>
        </p:txBody>
      </p:sp>
      <p:sp>
        <p:nvSpPr>
          <p:cNvPr id="7" name="Text 4"/>
          <p:cNvSpPr/>
          <p:nvPr/>
        </p:nvSpPr>
        <p:spPr>
          <a:xfrm>
            <a:off x="676656" y="2910563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Assuntos-base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3276323"/>
            <a:ext cx="338328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FeirAço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condições especiais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estoques estratégicos
</a:t>
            </a:r>
            <a:endParaRPr lang="en-US" sz="1560" dirty="0"/>
          </a:p>
          <a:p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campanhas e lançamentos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4389120" y="2910563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Públicos e canais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89120" y="3276323"/>
            <a:ext cx="29260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Personas: clientes ativos, inativos e leads quentes</a:t>
            </a:r>
            <a:endParaRPr lang="en-US" sz="1560" dirty="0"/>
          </a:p>
          <a:p>
            <a:pPr marL="0" indent="0">
              <a:buNone/>
            </a:pPr>
            <a:endParaRPr lang="en-US" sz="1560" dirty="0"/>
          </a:p>
          <a:p>
            <a:pPr marL="0" indent="0">
              <a:buNone/>
            </a:pPr>
            <a:r>
              <a:rPr lang="en-US" sz="156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Canais prioritários: Meta Ads, WhatsApp, Instagram, CRM</a:t>
            </a:r>
            <a:endParaRPr lang="en-US" sz="156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editorial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MATRIZ EDITORIAL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332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Cada território cumpre uma função no negócio.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Território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251960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Autoridade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35508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Relacionamento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73252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Conversão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176272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Inteligência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4251960" y="2176272"/>
            <a:ext cx="1600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6355080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Média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8732520" y="2176272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Baixa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822960" y="2615184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Engenharia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4251960" y="2615184"/>
            <a:ext cx="1600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355080" y="2615184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Média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8732520" y="2615184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Média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822960" y="3054096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Aço à Obra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4251960" y="3054096"/>
            <a:ext cx="1600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Média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6355080" y="3054096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8732520" y="3054096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Média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822960" y="3493008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Negócios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4251960" y="3493008"/>
            <a:ext cx="1600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6355080" y="3493008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8732520" y="3493008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Média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822960" y="3931920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Dentro da ABR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4251960" y="3931920"/>
            <a:ext cx="1600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Média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635508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873252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Baixa</a:t>
            </a:r>
            <a:endParaRPr lang="en-US" sz="1180" dirty="0"/>
          </a:p>
        </p:txBody>
      </p:sp>
      <p:sp>
        <p:nvSpPr>
          <p:cNvPr id="28" name="Text 26"/>
          <p:cNvSpPr/>
          <p:nvPr/>
        </p:nvSpPr>
        <p:spPr>
          <a:xfrm>
            <a:off x="822960" y="4370832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Gente que Constrói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4251960" y="4370832"/>
            <a:ext cx="1600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6355080" y="4370832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8732520" y="4370832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822960" y="4809744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Soluções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4251960" y="4809744"/>
            <a:ext cx="1600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Média</a:t>
            </a:r>
            <a:endParaRPr lang="en-US" sz="1180" dirty="0"/>
          </a:p>
        </p:txBody>
      </p:sp>
      <p:sp>
        <p:nvSpPr>
          <p:cNvPr id="34" name="Text 32"/>
          <p:cNvSpPr/>
          <p:nvPr/>
        </p:nvSpPr>
        <p:spPr>
          <a:xfrm>
            <a:off x="63550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Média</a:t>
            </a:r>
            <a:endParaRPr lang="en-US" sz="1180" dirty="0"/>
          </a:p>
        </p:txBody>
      </p:sp>
      <p:sp>
        <p:nvSpPr>
          <p:cNvPr id="35" name="Text 33"/>
          <p:cNvSpPr/>
          <p:nvPr/>
        </p:nvSpPr>
        <p:spPr>
          <a:xfrm>
            <a:off x="8732520" y="4809744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822960" y="5248656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Oportunidades</a:t>
            </a:r>
            <a:endParaRPr lang="en-US" sz="1180" dirty="0"/>
          </a:p>
        </p:txBody>
      </p:sp>
      <p:sp>
        <p:nvSpPr>
          <p:cNvPr id="37" name="Text 35"/>
          <p:cNvSpPr/>
          <p:nvPr/>
        </p:nvSpPr>
        <p:spPr>
          <a:xfrm>
            <a:off x="4251960" y="5248656"/>
            <a:ext cx="1600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Baixa</a:t>
            </a:r>
            <a:endParaRPr lang="en-US" sz="1180" dirty="0"/>
          </a:p>
        </p:txBody>
      </p:sp>
      <p:sp>
        <p:nvSpPr>
          <p:cNvPr id="38" name="Text 36"/>
          <p:cNvSpPr/>
          <p:nvPr/>
        </p:nvSpPr>
        <p:spPr>
          <a:xfrm>
            <a:off x="6355080" y="5248656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Média</a:t>
            </a:r>
            <a:endParaRPr lang="en-US" sz="1180" dirty="0"/>
          </a:p>
        </p:txBody>
      </p:sp>
      <p:sp>
        <p:nvSpPr>
          <p:cNvPr id="39" name="Text 37"/>
          <p:cNvSpPr/>
          <p:nvPr/>
        </p:nvSpPr>
        <p:spPr>
          <a:xfrm>
            <a:off x="8732520" y="5248656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</a:t>
            </a:r>
            <a:endParaRPr lang="en-US" sz="118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editorial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FUNÇÃO DOS CANAIS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 mesmo assunto precisa assumir papéis diferentes por canal.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2148840" cy="1371600"/>
          </a:xfrm>
          <a:prstGeom prst="rect">
            <a:avLst/>
          </a:prstGeom>
          <a:solidFill>
            <a:srgbClr val="E9EDF8"/>
          </a:solidFill>
          <a:ln>
            <a:solidFill>
              <a:srgbClr val="E9EDF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LinkedIn
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ABR pensa: mercado, inteligência, indústria, negócio, pessoas e cases.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971800" y="1828800"/>
            <a:ext cx="2148840" cy="1371600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Instagram
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ABR mostra: obra, produto, pessoas, operação, bastidores e inspiração.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257800" y="1828800"/>
            <a:ext cx="2148840" cy="1371600"/>
          </a:xfrm>
          <a:prstGeom prst="rect">
            <a:avLst/>
          </a:prstGeom>
          <a:solidFill>
            <a:srgbClr val="FFF2DF"/>
          </a:solidFill>
          <a:ln>
            <a:solidFill>
              <a:srgbClr val="FFF2D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TikTok
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ABR explica e entretém: curiosidades, processos, comparativos e transformação.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43800" y="1828800"/>
            <a:ext cx="2148840" cy="1371600"/>
          </a:xfrm>
          <a:prstGeom prst="rect">
            <a:avLst/>
          </a:prstGeom>
          <a:solidFill>
            <a:srgbClr val="E9EDF8"/>
          </a:solidFill>
          <a:ln>
            <a:solidFill>
              <a:srgbClr val="E9EDF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YouTube
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ABR ensina: conteúdo aprofundado, tutoriais, mercado, entrevistas e provas.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29800" y="1828800"/>
            <a:ext cx="2148840" cy="1371600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Meta Ads
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ABR converte: oferta, remarketing, captação e demanda quente.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892040"/>
            <a:ext cx="10058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Regra: canal não é depósito de posts. Canal é função dentro do funil.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Canais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3.jpg"/>
          <p:cNvPicPr>
            <a:picLocks noChangeAspect="1"/>
          </p:cNvPicPr>
          <p:nvPr/>
        </p:nvPicPr>
        <p:blipFill>
          <a:blip r:embed="rId3"/>
          <a:srcRect l="32626" r="32626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DE DESDOBRAMENTO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Um tema. Quatro intenções.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600200"/>
            <a:ext cx="6400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Tema base: telha termoacústica.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240280"/>
            <a:ext cx="640080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Instagram: “3 situações em que ela faz diferença”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TikTok: demonstração visual e comparativo rápido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YouTube: guia completo de escolha e aplicação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LinkedIn: custo invisível de especificar apenas por preço/m²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de desdobramento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1.jpg"/>
          <p:cNvPicPr>
            <a:picLocks noChangeAspect="1"/>
          </p:cNvPicPr>
          <p:nvPr/>
        </p:nvPicPr>
        <p:blipFill>
          <a:blip r:embed="rId3"/>
          <a:srcRect l="29625" r="29625"/>
          <a:stretch/>
        </p:blipFill>
        <p:spPr>
          <a:xfrm>
            <a:off x="7223760" y="0"/>
            <a:ext cx="49651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868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07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94360" y="1737360"/>
            <a:ext cx="6217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Funil, calendário e métricas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21792" y="3017520"/>
            <a:ext cx="5212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8DD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precisa conectar atenção, intenção e resultado comercial.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21792" y="4023360"/>
            <a:ext cx="155448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/mnt/data/abr_manual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301752"/>
            <a:ext cx="16002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FUNIL EDITORIAL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22959"/>
            <a:ext cx="6041690" cy="8811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Conteúdo precisa mover o público de lembrança para ação.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2354580"/>
            <a:ext cx="2331720" cy="685800"/>
          </a:xfrm>
          <a:prstGeom prst="rect">
            <a:avLst/>
          </a:prstGeom>
          <a:solidFill>
            <a:srgbClr val="253575"/>
          </a:solidFill>
          <a:ln>
            <a:solidFill>
              <a:srgbClr val="25357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6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Descoberta</a:t>
            </a:r>
            <a:endParaRPr lang="en-US" sz="1460" dirty="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r>
              <a:rPr lang="en-US" sz="14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olha isso</a:t>
            </a:r>
            <a:endParaRPr lang="en-US" sz="1460" dirty="0"/>
          </a:p>
        </p:txBody>
      </p:sp>
      <p:sp>
        <p:nvSpPr>
          <p:cNvPr id="5" name="Text 3"/>
          <p:cNvSpPr/>
          <p:nvPr/>
        </p:nvSpPr>
        <p:spPr>
          <a:xfrm>
            <a:off x="3383280" y="2354580"/>
            <a:ext cx="2331720" cy="685800"/>
          </a:xfrm>
          <a:prstGeom prst="rect">
            <a:avLst/>
          </a:prstGeom>
          <a:solidFill>
            <a:srgbClr val="253575"/>
          </a:solidFill>
          <a:ln>
            <a:solidFill>
              <a:srgbClr val="25357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6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Interesse</a:t>
            </a:r>
            <a:endParaRPr lang="en-US" sz="1460" dirty="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r>
              <a:rPr lang="en-US" sz="14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 não sabia</a:t>
            </a:r>
            <a:endParaRPr lang="en-US" sz="1460" dirty="0"/>
          </a:p>
        </p:txBody>
      </p:sp>
      <p:sp>
        <p:nvSpPr>
          <p:cNvPr id="6" name="Text 4"/>
          <p:cNvSpPr/>
          <p:nvPr/>
        </p:nvSpPr>
        <p:spPr>
          <a:xfrm>
            <a:off x="6172200" y="2354580"/>
            <a:ext cx="2331720" cy="685800"/>
          </a:xfrm>
          <a:prstGeom prst="rect">
            <a:avLst/>
          </a:prstGeom>
          <a:solidFill>
            <a:srgbClr val="253575"/>
          </a:solidFill>
          <a:ln>
            <a:solidFill>
              <a:srgbClr val="25357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6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Autoridade</a:t>
            </a:r>
            <a:endParaRPr lang="en-US" sz="1460" dirty="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r>
              <a:rPr lang="en-US" sz="14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eles entendem</a:t>
            </a:r>
            <a:endParaRPr lang="en-US" sz="1460" dirty="0"/>
          </a:p>
        </p:txBody>
      </p:sp>
      <p:sp>
        <p:nvSpPr>
          <p:cNvPr id="7" name="Text 5"/>
          <p:cNvSpPr/>
          <p:nvPr/>
        </p:nvSpPr>
        <p:spPr>
          <a:xfrm>
            <a:off x="8961120" y="2354580"/>
            <a:ext cx="2331720" cy="685800"/>
          </a:xfrm>
          <a:prstGeom prst="rect">
            <a:avLst/>
          </a:prstGeom>
          <a:solidFill>
            <a:srgbClr val="F18800"/>
          </a:solidFill>
          <a:ln>
            <a:solidFill>
              <a:srgbClr val="F1880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60" b="1" dirty="0">
                <a:solidFill>
                  <a:schemeClr val="accent1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Consideração</a:t>
            </a:r>
            <a:endParaRPr lang="en-US" sz="146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4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podem me ajudar</a:t>
            </a:r>
            <a:endParaRPr lang="en-US" sz="1460" dirty="0"/>
          </a:p>
        </p:txBody>
      </p:sp>
      <p:sp>
        <p:nvSpPr>
          <p:cNvPr id="8" name="Text 6"/>
          <p:cNvSpPr/>
          <p:nvPr/>
        </p:nvSpPr>
        <p:spPr>
          <a:xfrm>
            <a:off x="594360" y="3589020"/>
            <a:ext cx="2331720" cy="685800"/>
          </a:xfrm>
          <a:prstGeom prst="rect">
            <a:avLst/>
          </a:prstGeom>
          <a:solidFill>
            <a:srgbClr val="F18800"/>
          </a:solidFill>
          <a:ln>
            <a:solidFill>
              <a:srgbClr val="F1880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60" b="1" dirty="0">
                <a:solidFill>
                  <a:schemeClr val="accent1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Conversão</a:t>
            </a:r>
            <a:endParaRPr lang="en-US" sz="146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4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quero cotar</a:t>
            </a:r>
            <a:endParaRPr lang="en-US" sz="1460" dirty="0"/>
          </a:p>
        </p:txBody>
      </p:sp>
      <p:sp>
        <p:nvSpPr>
          <p:cNvPr id="9" name="Text 7"/>
          <p:cNvSpPr/>
          <p:nvPr/>
        </p:nvSpPr>
        <p:spPr>
          <a:xfrm>
            <a:off x="3383280" y="3589020"/>
            <a:ext cx="2331720" cy="685800"/>
          </a:xfrm>
          <a:prstGeom prst="rect">
            <a:avLst/>
          </a:prstGeom>
          <a:solidFill>
            <a:srgbClr val="142758"/>
          </a:solidFill>
          <a:ln>
            <a:solidFill>
              <a:srgbClr val="14275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6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Relacionamento</a:t>
            </a:r>
            <a:endParaRPr lang="en-US" sz="1460" dirty="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r>
              <a:rPr lang="en-US" sz="14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 acompanhando</a:t>
            </a:r>
            <a:endParaRPr lang="en-US" sz="1460" dirty="0"/>
          </a:p>
        </p:txBody>
      </p:sp>
      <p:sp>
        <p:nvSpPr>
          <p:cNvPr id="10" name="Text 8"/>
          <p:cNvSpPr/>
          <p:nvPr/>
        </p:nvSpPr>
        <p:spPr>
          <a:xfrm>
            <a:off x="6172200" y="3589020"/>
            <a:ext cx="2331720" cy="685800"/>
          </a:xfrm>
          <a:prstGeom prst="rect">
            <a:avLst/>
          </a:prstGeom>
          <a:solidFill>
            <a:srgbClr val="142758"/>
          </a:solidFill>
          <a:ln>
            <a:solidFill>
              <a:srgbClr val="14275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6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Recompra</a:t>
            </a:r>
            <a:endParaRPr lang="en-US" sz="1460" dirty="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r>
              <a:rPr lang="en-US" sz="14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volto a comprar</a:t>
            </a:r>
            <a:endParaRPr lang="en-US" sz="1460" dirty="0"/>
          </a:p>
        </p:txBody>
      </p:sp>
      <p:sp>
        <p:nvSpPr>
          <p:cNvPr id="11" name="Text 9"/>
          <p:cNvSpPr/>
          <p:nvPr/>
        </p:nvSpPr>
        <p:spPr>
          <a:xfrm>
            <a:off x="8961120" y="3589020"/>
            <a:ext cx="2331720" cy="685800"/>
          </a:xfrm>
          <a:prstGeom prst="rect">
            <a:avLst/>
          </a:prstGeom>
          <a:solidFill>
            <a:srgbClr val="142758"/>
          </a:solidFill>
          <a:ln>
            <a:solidFill>
              <a:srgbClr val="14275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6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Indicação</a:t>
            </a:r>
            <a:endParaRPr lang="en-US" sz="1460" dirty="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r>
              <a:rPr lang="en-US" sz="14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recomendo</a:t>
            </a:r>
            <a:endParaRPr lang="en-US" sz="146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Funil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.jpg"/>
          <p:cNvPicPr>
            <a:picLocks noChangeAspect="1"/>
          </p:cNvPicPr>
          <p:nvPr/>
        </p:nvPicPr>
        <p:blipFill>
          <a:blip r:embed="rId3"/>
          <a:srcRect l="32626" r="32626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DE CTA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CTA também precisa respeitar estágio do funil.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94360" y="1536192"/>
            <a:ext cx="6400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Nem todo conteúdo deve pedir orçamento imediatamente.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604654"/>
            <a:ext cx="6400800" cy="311034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Topo: seguir, salvar, comentar, compartilhar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Meio: assistir, baixar, perguntar, comparar, enviar projeto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Fundo: cotar, falar com vendedor, agendar atendimento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Pós-venda: avaliar, indicar, recomprar e compartilhar case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de CTA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7.jpg"/>
          <p:cNvPicPr>
            <a:picLocks noChangeAspect="1"/>
          </p:cNvPicPr>
          <p:nvPr/>
        </p:nvPicPr>
        <p:blipFill>
          <a:blip r:embed="rId3"/>
          <a:srcRect t="18143" b="18143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NOVO CALENDÁRIO EDITORIAL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Cada pauta passa a carregar intenção estratégica.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600200"/>
            <a:ext cx="64008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calendário vira ferramenta de aprendizado e não apenas agenda de postagem.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646218"/>
            <a:ext cx="6400800" cy="306878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Data, canal e formato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Persona, território editorial e estágio do funil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Objetivo, gancho e CTA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Responsável e métrica primária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Resultado: alcance, lead, cotação, venda, tonelagem e margem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Novo calendário editorial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59644"/>
            <a:ext cx="10114927" cy="9601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Medir like é pouco. Precisamos medir avanço comercial.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4800600" cy="960120"/>
          </a:xfrm>
          <a:prstGeom prst="rect">
            <a:avLst/>
          </a:prstGeom>
          <a:solidFill>
            <a:srgbClr val="E9EDF8"/>
          </a:solidFill>
          <a:ln>
            <a:solidFill>
              <a:srgbClr val="E9EDF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ATENÇÃO
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alcance · impressões · views · retenção · CPM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874520"/>
            <a:ext cx="4800600" cy="960120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ENGAJAMENTO
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salvamento · compartilhamento · comentário · tempo assistido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4800600" cy="960120"/>
          </a:xfrm>
          <a:prstGeom prst="rect">
            <a:avLst/>
          </a:prstGeom>
          <a:solidFill>
            <a:srgbClr val="FFF2DF"/>
          </a:solidFill>
          <a:ln>
            <a:solidFill>
              <a:srgbClr val="FFF2D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INTENÇÃO
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visita · clique · WhatsApp · formulário · download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3429000"/>
            <a:ext cx="4800600" cy="960120"/>
          </a:xfrm>
          <a:prstGeom prst="rect">
            <a:avLst/>
          </a:prstGeom>
          <a:solidFill>
            <a:srgbClr val="E9EDF8"/>
          </a:solidFill>
          <a:ln>
            <a:solidFill>
              <a:srgbClr val="E9EDF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NEGÓCIO
</a:t>
            </a:r>
            <a:r>
              <a:rPr lang="en-US" sz="13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 · cotação · pedido · faturamento · toneladas · margem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Métricas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INTEGRAÇÃO COM CRM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Marketing não termina no like.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417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Conteúdo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103120" y="2450592"/>
            <a:ext cx="274320" cy="0"/>
          </a:xfrm>
          <a:prstGeom prst="line">
            <a:avLst/>
          </a:prstGeom>
          <a:noFill/>
          <a:ln w="25400">
            <a:solidFill>
              <a:srgbClr val="F188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468880" y="2194560"/>
            <a:ext cx="1417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931920" y="2450592"/>
            <a:ext cx="274320" cy="0"/>
          </a:xfrm>
          <a:prstGeom prst="line">
            <a:avLst/>
          </a:prstGeom>
          <a:noFill/>
          <a:ln w="25400">
            <a:solidFill>
              <a:srgbClr val="F188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297680" y="2194560"/>
            <a:ext cx="1417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760720" y="2450592"/>
            <a:ext cx="274320" cy="0"/>
          </a:xfrm>
          <a:prstGeom prst="line">
            <a:avLst/>
          </a:prstGeom>
          <a:noFill/>
          <a:ln w="25400">
            <a:solidFill>
              <a:srgbClr val="F188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126480" y="2194560"/>
            <a:ext cx="1417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Cotação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1417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Pedido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2103120" y="3547872"/>
            <a:ext cx="274320" cy="0"/>
          </a:xfrm>
          <a:prstGeom prst="line">
            <a:avLst/>
          </a:prstGeom>
          <a:noFill/>
          <a:ln w="25400">
            <a:solidFill>
              <a:srgbClr val="F188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468880" y="3291840"/>
            <a:ext cx="1417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Toneladas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931920" y="3547872"/>
            <a:ext cx="274320" cy="0"/>
          </a:xfrm>
          <a:prstGeom prst="line">
            <a:avLst/>
          </a:prstGeom>
          <a:noFill/>
          <a:ln w="25400">
            <a:solidFill>
              <a:srgbClr val="F188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297680" y="3291840"/>
            <a:ext cx="1417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Margem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760720" y="3547872"/>
            <a:ext cx="274320" cy="0"/>
          </a:xfrm>
          <a:prstGeom prst="line">
            <a:avLst/>
          </a:prstGeom>
          <a:noFill/>
          <a:ln w="25400">
            <a:solidFill>
              <a:srgbClr val="F188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126480" y="3291840"/>
            <a:ext cx="1417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Recompra</a:t>
            </a:r>
            <a:endParaRPr lang="en-US" sz="1450" dirty="0"/>
          </a:p>
        </p:txBody>
      </p:sp>
      <p:pic>
        <p:nvPicPr>
          <p:cNvPr id="18" name="Image 0" descr="/mnt/data/abr_optimized/image11.jpg"/>
          <p:cNvPicPr>
            <a:picLocks noChangeAspect="1"/>
          </p:cNvPicPr>
          <p:nvPr/>
        </p:nvPicPr>
        <p:blipFill>
          <a:blip r:embed="rId3"/>
          <a:srcRect l="32439" r="32439"/>
          <a:stretch/>
        </p:blipFill>
        <p:spPr>
          <a:xfrm>
            <a:off x="7909560" y="0"/>
            <a:ext cx="4279392" cy="6858000"/>
          </a:xfrm>
          <a:prstGeom prst="rect">
            <a:avLst/>
          </a:prstGeom>
        </p:spPr>
      </p:pic>
      <p:pic>
        <p:nvPicPr>
          <p:cNvPr id="19" name="Image 1" descr="/mnt/data/abr_manual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301752"/>
            <a:ext cx="16002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.jpg"/>
          <p:cNvPicPr>
            <a:picLocks noChangeAspect="1"/>
          </p:cNvPicPr>
          <p:nvPr/>
        </p:nvPicPr>
        <p:blipFill>
          <a:blip r:embed="rId3"/>
          <a:srcRect l="29625" r="29625"/>
          <a:stretch/>
        </p:blipFill>
        <p:spPr>
          <a:xfrm>
            <a:off x="7223760" y="0"/>
            <a:ext cx="49651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868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8800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08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94360" y="1737360"/>
            <a:ext cx="6217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Implantação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21792" y="3017520"/>
            <a:ext cx="5212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8DD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precisa ser feito para sair do plano e virar rotina.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21792" y="4023360"/>
            <a:ext cx="155448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/mnt/data/abr_manual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301752"/>
            <a:ext cx="16002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3.jpg"/>
          <p:cNvPicPr>
            <a:picLocks noChangeAspect="1"/>
          </p:cNvPicPr>
          <p:nvPr/>
        </p:nvPicPr>
        <p:blipFill>
          <a:blip r:embed="rId3"/>
          <a:srcRect l="32626" r="32626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Próximos passos para consolidar a estratégia.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600200"/>
            <a:ext cx="6400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 análise à execução mensurável.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240280"/>
            <a:ext cx="640080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Finalizar radar competitivo e benchmark digital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Validar personas com comercial, CRM e clientes reais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Criar matriz de pautas por território e funil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Ajustar calendário editorial com campos estratégicos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Definir rotina de captação de imagens reais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 Integrar relatório editorial com Kommo e vendas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7.jpg"/>
          <p:cNvPicPr>
            <a:picLocks noChangeAspect="1"/>
          </p:cNvPicPr>
          <p:nvPr/>
        </p:nvPicPr>
        <p:blipFill>
          <a:blip r:embed="rId3"/>
          <a:srcRect t="18143" b="18143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NECESSÁRIOS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 que ainda precisamos levantar.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3504" y="1600200"/>
            <a:ext cx="6400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estratégia fica mais forte quando sai do achismo e entra no dado.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240280"/>
            <a:ext cx="640080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 real de concorrentes por rota e segmento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Motivos de perda em negócios do Kommo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 ativos, inativos e principais produtos por segmento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Perguntas frequentes dos vendedores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Obras e clientes autorizados para cases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Indicadores mensais de conteúdo → lead → cotação → venda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necessários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11.jpg"/>
          <p:cNvPicPr>
            <a:picLocks noChangeAspect="1"/>
          </p:cNvPicPr>
          <p:nvPr/>
        </p:nvPicPr>
        <p:blipFill>
          <a:blip r:embed="rId3"/>
          <a:srcRect l="32626" r="32626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206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GOVERNANÇA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 linha editorial precisa virar processo.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387671"/>
            <a:ext cx="6400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governança, a estratégia volta a virar improviso.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240280"/>
            <a:ext cx="640080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Reunião quinzenal de pauta com marketing e comercial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Banco de imagens e vídeos por território editorial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de identidade visual por peça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Aprovação técnica para conteúdos de aplicação e normas
</a:t>
            </a:r>
            <a:endParaRPr lang="en-US" sz="1850" dirty="0"/>
          </a:p>
          <a:p>
            <a:r>
              <a:rPr lang="en-US" sz="1850" dirty="0">
                <a:solidFill>
                  <a:srgbClr val="252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Relatório mensal com aprendizados e ações corretivas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Governança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10332720" y="6446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C87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</a:t>
            </a:r>
            <a:endParaRPr lang="en-US" sz="88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r_optimized/image3.jpg"/>
          <p:cNvPicPr>
            <a:picLocks noChangeAspect="1"/>
          </p:cNvPicPr>
          <p:nvPr/>
        </p:nvPicPr>
        <p:blipFill>
          <a:blip r:embed="rId3"/>
          <a:srcRect l="30000" r="30000"/>
          <a:stretch/>
        </p:blipFill>
        <p:spPr>
          <a:xfrm>
            <a:off x="7315200" y="0"/>
            <a:ext cx="4873752" cy="6858000"/>
          </a:xfrm>
          <a:prstGeom prst="rect">
            <a:avLst/>
          </a:prstGeom>
        </p:spPr>
      </p:pic>
      <p:pic>
        <p:nvPicPr>
          <p:cNvPr id="3" name="Image 1" descr="/mnt/data/abr_manual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685800"/>
            <a:ext cx="1828800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965960"/>
            <a:ext cx="6126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FORÇA PARA CONSTRUIR.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AGILIDADE PARA ENTREGAR.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PARCERIA PARA CRESCER.</a:t>
            </a:r>
            <a:endParaRPr lang="en-US" sz="3100" dirty="0"/>
          </a:p>
        </p:txBody>
      </p:sp>
      <p:sp>
        <p:nvSpPr>
          <p:cNvPr id="5" name="Text 1"/>
          <p:cNvSpPr/>
          <p:nvPr/>
        </p:nvSpPr>
        <p:spPr>
          <a:xfrm>
            <a:off x="694944" y="41605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8DD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Grupo ABR não quer apenas vender aço. Quer ser lembrado quando alguém precisar construir, produzir, resolver e crescer.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694944" y="5577840"/>
            <a:ext cx="1463040" cy="0"/>
          </a:xfrm>
          <a:prstGeom prst="line">
            <a:avLst/>
          </a:prstGeom>
          <a:noFill/>
          <a:ln w="38100">
            <a:solidFill>
              <a:srgbClr val="F188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ex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3749</Words>
  <Application>Microsoft Office PowerPoint</Application>
  <PresentationFormat>Widescreen</PresentationFormat>
  <Paragraphs>767</Paragraphs>
  <Slides>67</Slides>
  <Notes>67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67</vt:i4>
      </vt:variant>
    </vt:vector>
  </HeadingPairs>
  <TitlesOfParts>
    <vt:vector size="71" baseType="lpstr">
      <vt:lpstr>Arial</vt:lpstr>
      <vt:lpstr>Montserrat</vt:lpstr>
      <vt:lpstr>Nexa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Grupo ABR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Estratégia de Marca, Comunicação e Conteúdo — Grupo ABR</dc:title>
  <dc:subject>Estratégia de Marca, Comunicação e Conteúdo — Grupo ABR</dc:subject>
  <dc:creator>OpenAI</dc:creator>
  <cp:lastModifiedBy>Thiago Almeida</cp:lastModifiedBy>
  <cp:revision>5</cp:revision>
  <dcterms:created xsi:type="dcterms:W3CDTF">2026-08-24T12:47:47Z</dcterms:created>
  <dcterms:modified xsi:type="dcterms:W3CDTF">2026-08-31T18:58:48Z</dcterms:modified>
</cp:coreProperties>
</file>